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66928"/>
            <a:ext cx="4162348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416234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Calibri"/>
              </a:rPr>
              <a:t>FACULTY BOARD BRIEFING · 16.06.2026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932688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Entrepreneurship</a:t>
            </a:r>
          </a:p>
          <a:p>
            <a:pPr algn="l">
              <a:lnSpc>
                <a:spcPct val="96000"/>
              </a:lnSpc>
            </a:pPr>
            <a:r>
              <a:rPr sz="4400" b="1" i="0">
                <a:solidFill>
                  <a:srgbClr val="E2007A"/>
                </a:solidFill>
                <a:latin typeface="Calibri"/>
              </a:rPr>
              <a:t>in ECRI.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504688"/>
            <a:ext cx="411480" cy="32004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60527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E2007A"/>
                </a:solidFill>
                <a:latin typeface="Calibri"/>
              </a:rP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7959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Mohammad Abu-Rezeq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B9B9BE"/>
                </a:solidFill>
                <a:latin typeface="Calibri"/>
              </a:rPr>
              <a:t>ECRI, Unit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5504688"/>
            <a:ext cx="411480" cy="32004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560527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E2007A"/>
                </a:solidFill>
                <a:latin typeface="Calibri"/>
              </a:rPr>
              <a:t>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87959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Prof. Dr. Dominik Boehler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B9B9BE"/>
                </a:solidFill>
                <a:latin typeface="Calibri"/>
              </a:rPr>
              <a:t>Faculty 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5504688"/>
            <a:ext cx="411480" cy="32004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560527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E2007A"/>
                </a:solidFill>
                <a:latin typeface="Calibri"/>
              </a:rPr>
              <a:t>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87959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16 June 2026 · 14:00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B9B9BE"/>
                </a:solidFill>
                <a:latin typeface="Calibri"/>
              </a:rPr>
              <a:t>THD · ZFE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01</a:t>
            </a:r>
            <a:r>
              <a:rPr sz="850" b="0" i="0">
                <a:solidFill>
                  <a:srgbClr val="B9B9B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864656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6465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78992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222"/>
                </a:solidFill>
                <a:latin typeface="Calibri"/>
              </a:rPr>
              <a:t>Agenda</a:t>
            </a:r>
            <a:r>
              <a:rPr sz="3300" b="1" i="0">
                <a:solidFill>
                  <a:srgbClr val="E2007A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A short briefing on the state of ECRI founder coaching: who we are working with, how we reach them, the numbers, and what we need to grow.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82296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2007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697480"/>
            <a:ext cx="45720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97480"/>
            <a:ext cx="347472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Active student ventures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697480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E2007A"/>
                </a:solidFill>
                <a:latin typeface="Calibri"/>
              </a:rPr>
              <a:t>S. 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55264"/>
            <a:ext cx="9875520" cy="9144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82296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2007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73552"/>
            <a:ext cx="45720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The founder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73552"/>
            <a:ext cx="347472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Founders, talent and mentors joining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273552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E2007A"/>
                </a:solidFill>
                <a:latin typeface="Calibri"/>
              </a:rPr>
              <a:t>S.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831336"/>
            <a:ext cx="9875520" cy="9144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49624"/>
            <a:ext cx="82296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2007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49624"/>
            <a:ext cx="45720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Formats and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49624"/>
            <a:ext cx="347472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How we reach and support founders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849624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E2007A"/>
                </a:solidFill>
                <a:latin typeface="Calibri"/>
              </a:rPr>
              <a:t>S. 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407408"/>
            <a:ext cx="9875520" cy="9144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25696"/>
            <a:ext cx="82296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2007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425696"/>
            <a:ext cx="45720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The room at GreG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25696"/>
            <a:ext cx="347472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Our ECRIative Space, in use and in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425696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E2007A"/>
                </a:solidFill>
                <a:latin typeface="Calibri"/>
              </a:rPr>
              <a:t>S. 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83480"/>
            <a:ext cx="9875520" cy="9144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01768"/>
            <a:ext cx="82296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2007A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001768"/>
            <a:ext cx="45720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Activities and KPIs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01768"/>
            <a:ext cx="347472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The current term in figures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5001768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E2007A"/>
                </a:solidFill>
                <a:latin typeface="Calibri"/>
              </a:rPr>
              <a:t>S. 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559552"/>
            <a:ext cx="9875520" cy="9144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77840"/>
            <a:ext cx="82296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2007A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577840"/>
            <a:ext cx="45720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What we need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577840"/>
            <a:ext cx="347472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Call to action for the faculty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5577840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E2007A"/>
                </a:solidFill>
                <a:latin typeface="Calibri"/>
              </a:rPr>
              <a:t>S. 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6419088"/>
            <a:ext cx="10637215" cy="10972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150">
                <a:solidFill>
                  <a:srgbClr val="6E6E6E"/>
                </a:solidFill>
                <a:latin typeface="Calibri"/>
              </a:rPr>
              <a:t>THD · ZFE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56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02</a:t>
            </a:r>
            <a:r>
              <a:rPr sz="850" b="0" i="0">
                <a:solidFill>
                  <a:srgbClr val="6E6E6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alibri"/>
              </a:rPr>
              <a:t>01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7899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222"/>
                </a:solidFill>
                <a:latin typeface="Calibri"/>
              </a:rPr>
              <a:t>The teams </a:t>
            </a:r>
            <a:r>
              <a:rPr sz="3300" b="1" i="0">
                <a:solidFill>
                  <a:srgbClr val="E2007A"/>
                </a:solidFill>
                <a:latin typeface="Calibri"/>
              </a:rPr>
              <a:t>·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45643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8408" y="2441448"/>
            <a:ext cx="741761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441448"/>
            <a:ext cx="741761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9" name="Oval 8"/>
          <p:cNvSpPr/>
          <p:nvPr/>
        </p:nvSpPr>
        <p:spPr>
          <a:xfrm>
            <a:off x="3465575" y="2423160"/>
            <a:ext cx="566928" cy="56692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5575" y="24231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108960"/>
            <a:ext cx="30449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Lucas Barrios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3429000"/>
            <a:ext cx="30449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 spc="80">
                <a:solidFill>
                  <a:srgbClr val="E2007A"/>
                </a:solidFill>
                <a:latin typeface="Calibri"/>
              </a:rPr>
              <a:t>DIGITAL HEALTH · BRAZIL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3685032"/>
            <a:ext cx="3044951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Calibri"/>
              </a:rPr>
              <a:t>A prescription service for the Brazilian market.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240280"/>
            <a:ext cx="345643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9431" y="2441448"/>
            <a:ext cx="741761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2441448"/>
            <a:ext cx="741761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2423160"/>
            <a:ext cx="566928" cy="56692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4231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08960"/>
            <a:ext cx="30449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Ksenia Vinogradova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429000"/>
            <a:ext cx="30449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 spc="80">
                <a:solidFill>
                  <a:srgbClr val="E2007A"/>
                </a:solidFill>
                <a:latin typeface="Calibri"/>
              </a:rPr>
              <a:t>ANIMAL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85032"/>
            <a:ext cx="3044951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Calibri"/>
              </a:rPr>
              <a:t>An app to manage dental hygiene for horses, with a co-founder.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9288" y="2240280"/>
            <a:ext cx="345643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2441448"/>
            <a:ext cx="828812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441448"/>
            <a:ext cx="82881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AT GREG</a:t>
            </a:r>
          </a:p>
        </p:txBody>
      </p:sp>
      <p:sp>
        <p:nvSpPr>
          <p:cNvPr id="25" name="Oval 24"/>
          <p:cNvSpPr/>
          <p:nvPr/>
        </p:nvSpPr>
        <p:spPr>
          <a:xfrm>
            <a:off x="10707624" y="2423160"/>
            <a:ext cx="566928" cy="56692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07624" y="24231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108960"/>
            <a:ext cx="30449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Ibrahim Lawal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3429000"/>
            <a:ext cx="30449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 spc="80">
                <a:solidFill>
                  <a:srgbClr val="E2007A"/>
                </a:solidFill>
                <a:latin typeface="Calibri"/>
              </a:rPr>
              <a:t>CULTURE CART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3685032"/>
            <a:ext cx="3044951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Calibri"/>
              </a:rPr>
              <a:t>Founder of Culture Cart, based at the GreG Founding Center.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51960"/>
            <a:ext cx="345643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" y="4453128"/>
            <a:ext cx="741761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453128"/>
            <a:ext cx="741761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33" name="Oval 32"/>
          <p:cNvSpPr/>
          <p:nvPr/>
        </p:nvSpPr>
        <p:spPr>
          <a:xfrm>
            <a:off x="3465575" y="4434840"/>
            <a:ext cx="566928" cy="56692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65575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" y="5120640"/>
            <a:ext cx="30449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Samson Olawole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440680"/>
            <a:ext cx="30449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 spc="80">
                <a:solidFill>
                  <a:srgbClr val="E2007A"/>
                </a:solidFill>
                <a:latin typeface="Calibri"/>
              </a:rPr>
              <a:t>CCD SUITE · B2B SAAS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" y="5696712"/>
            <a:ext cx="3044951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Calibri"/>
              </a:rPr>
              <a:t>AI business management platform for modern agencies, nine integrated modules from CRM to finance.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98264" y="4251960"/>
            <a:ext cx="345643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99431" y="4453128"/>
            <a:ext cx="741761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1" y="4453128"/>
            <a:ext cx="741761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41" name="Oval 40"/>
          <p:cNvSpPr/>
          <p:nvPr/>
        </p:nvSpPr>
        <p:spPr>
          <a:xfrm>
            <a:off x="7086600" y="4434840"/>
            <a:ext cx="566928" cy="56692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5120640"/>
            <a:ext cx="30449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Hazel D'couto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440680"/>
            <a:ext cx="30449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 spc="80">
                <a:solidFill>
                  <a:srgbClr val="E2007A"/>
                </a:solidFill>
                <a:latin typeface="Calibri"/>
              </a:rPr>
              <a:t>GESVIA · DIGITAL HEALTH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696712"/>
            <a:ext cx="3044951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Calibri"/>
              </a:rPr>
              <a:t>A digital health platform that turns complicated hospital forms into simple, engaging experiences for patients.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19288" y="4251960"/>
            <a:ext cx="3456432" cy="1847088"/>
          </a:xfrm>
          <a:prstGeom prst="roundRect">
            <a:avLst>
              <a:gd name="adj" fmla="val 6000"/>
            </a:avLst>
          </a:prstGeom>
          <a:solidFill>
            <a:srgbClr val="FBEAF2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0456" y="4453128"/>
            <a:ext cx="1525219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0456" y="4453128"/>
            <a:ext cx="152521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IN THE PIPELINE</a:t>
            </a:r>
          </a:p>
        </p:txBody>
      </p:sp>
      <p:sp>
        <p:nvSpPr>
          <p:cNvPr id="49" name="Oval 48"/>
          <p:cNvSpPr/>
          <p:nvPr/>
        </p:nvSpPr>
        <p:spPr>
          <a:xfrm>
            <a:off x="10707624" y="4434840"/>
            <a:ext cx="566928" cy="56692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07624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38744" y="5120640"/>
            <a:ext cx="30449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More teams to add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8744" y="5440680"/>
            <a:ext cx="30449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 spc="80">
                <a:solidFill>
                  <a:srgbClr val="E2007A"/>
                </a:solidFill>
                <a:latin typeface="Calibri"/>
              </a:rPr>
              <a:t>TO BE CONFIRMED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38744" y="5696712"/>
            <a:ext cx="3044951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Calibri"/>
              </a:rPr>
              <a:t>Further active teams to be confirmed before the board meeting.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6419088"/>
            <a:ext cx="10637215" cy="10972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150">
                <a:solidFill>
                  <a:srgbClr val="6E6E6E"/>
                </a:solidFill>
                <a:latin typeface="Calibri"/>
              </a:rPr>
              <a:t>THD · ZFE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56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03</a:t>
            </a:r>
            <a:r>
              <a:rPr sz="850" b="0" i="0">
                <a:solidFill>
                  <a:srgbClr val="6E6E6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alibri"/>
              </a:rPr>
              <a:t>02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78992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222"/>
                </a:solidFill>
                <a:latin typeface="Calibri"/>
              </a:rPr>
              <a:t>The founder </a:t>
            </a:r>
            <a:r>
              <a:rPr sz="3300" b="1" i="0">
                <a:solidFill>
                  <a:srgbClr val="E2007A"/>
                </a:solidFill>
                <a:latin typeface="Calibri"/>
              </a:rPr>
              <a:t>·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E6E6E"/>
                </a:solidFill>
                <a:latin typeface="Calibri"/>
              </a:rPr>
              <a:t>ECRI founders are part of a growing matching network. Students with ideas, talent looking to join a team, and mentors find each other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71800"/>
            <a:ext cx="1063447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3273552"/>
            <a:ext cx="310896" cy="310896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127248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FOUNDERS WITH IDEAS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127248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Students bringing a startup concept and looking for a 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50791"/>
            <a:ext cx="1063447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4352544"/>
            <a:ext cx="310896" cy="310896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206240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TALENT LOOKING TO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206240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Skilled students who want to join an existing startup.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129783"/>
            <a:ext cx="1063447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431536"/>
            <a:ext cx="310896" cy="310896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285231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MENTORS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285231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Experienced advisors supporting the teams as they grow.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419088"/>
            <a:ext cx="10637215" cy="10972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150">
                <a:solidFill>
                  <a:srgbClr val="6E6E6E"/>
                </a:solidFill>
                <a:latin typeface="Calibri"/>
              </a:rPr>
              <a:t>THD · ZFE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04</a:t>
            </a:r>
            <a:r>
              <a:rPr sz="850" b="0" i="0">
                <a:solidFill>
                  <a:srgbClr val="6E6E6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alibri"/>
              </a:rPr>
              <a:t>02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78992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222222"/>
                </a:solidFill>
                <a:latin typeface="Calibri"/>
              </a:rPr>
              <a:t>The network </a:t>
            </a:r>
            <a:r>
              <a:rPr sz="3100" b="1" i="0">
                <a:solidFill>
                  <a:srgbClr val="E2007A"/>
                </a:solidFill>
                <a:latin typeface="Calibri"/>
              </a:rPr>
              <a:t>· mapped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E6E6E"/>
                </a:solidFill>
                <a:latin typeface="Calibri"/>
              </a:rPr>
              <a:t>Every pin is a person in our matching platform — founders, talent and mentors across the region, finding each other in one place.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419856"/>
            <a:ext cx="292608" cy="29260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33832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222"/>
                </a:solidFill>
                <a:latin typeface="Calibri"/>
              </a:rPr>
              <a:t>FOUNDERS WITH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69417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bringing a concept, looking for a team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61104"/>
            <a:ext cx="292608" cy="29260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2245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222"/>
                </a:solidFill>
                <a:latin typeface="Calibri"/>
              </a:rPr>
              <a:t>TALENT LOOKING TO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53542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skilled students joining a startup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102352"/>
            <a:ext cx="292608" cy="292608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506577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222"/>
                </a:solidFill>
                <a:latin typeface="Calibri"/>
              </a:rPr>
              <a:t>MENTORS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Calibri"/>
              </a:rPr>
              <a:t>experienced advisors supporting teams</a:t>
            </a:r>
          </a:p>
        </p:txBody>
      </p:sp>
      <p:pic>
        <p:nvPicPr>
          <p:cNvPr id="16" name="Picture 15" descr="map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188720"/>
            <a:ext cx="5294376" cy="51206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7240" y="6419088"/>
            <a:ext cx="10637215" cy="10972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150">
                <a:solidFill>
                  <a:srgbClr val="6E6E6E"/>
                </a:solidFill>
                <a:latin typeface="Calibri"/>
              </a:rPr>
              <a:t>THD · ZFE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56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05</a:t>
            </a:r>
            <a:r>
              <a:rPr sz="850" b="0" i="0">
                <a:solidFill>
                  <a:srgbClr val="6E6E6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alibri"/>
              </a:rPr>
              <a:t>03 ·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7899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222"/>
                </a:solidFill>
                <a:latin typeface="Calibri"/>
              </a:rPr>
              <a:t>Formats </a:t>
            </a:r>
            <a:r>
              <a:rPr sz="3300" b="1" i="0">
                <a:solidFill>
                  <a:srgbClr val="E2007A"/>
                </a:solidFill>
                <a:latin typeface="Calibri"/>
              </a:rPr>
              <a:t>· and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Three ways we reach and support founders — from first contact to a place to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345643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971800"/>
            <a:ext cx="548640" cy="548640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E2007A"/>
                </a:solidFill>
                <a:latin typeface="Calibri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87368"/>
            <a:ext cx="2816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Office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44568"/>
            <a:ext cx="28163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Weekly walk-in slot, EC 2.11, Tuesdays 13:00 to 15:00. The first checkpoint of the founder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2606040"/>
            <a:ext cx="345643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27447" y="2971800"/>
            <a:ext cx="548640" cy="548640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7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7947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E2007A"/>
                </a:solidFill>
                <a:latin typeface="Calibri"/>
              </a:rPr>
              <a:t>TEACHING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7" y="4087368"/>
            <a:ext cx="2816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Entrepreneurship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7" y="4544568"/>
            <a:ext cx="28163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Introduces students to startup thinking and channels interested founders into coaching.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2606040"/>
            <a:ext cx="345643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57615" y="2971800"/>
            <a:ext cx="548640" cy="548640"/>
          </a:xfrm>
          <a:prstGeom prst="ellipse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5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37947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E2007A"/>
                </a:solidFill>
                <a:latin typeface="Calibri"/>
              </a:rPr>
              <a:t>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4087368"/>
            <a:ext cx="2816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Room at GreG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4544568"/>
            <a:ext cx="28163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Workspace and meeting point at the GreG Founding Center — detailed on the next slide.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419088"/>
            <a:ext cx="10637215" cy="10972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150">
                <a:solidFill>
                  <a:srgbClr val="6E6E6E"/>
                </a:solidFill>
                <a:latin typeface="Calibri"/>
              </a:rPr>
              <a:t>THD · ZFE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56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06</a:t>
            </a:r>
            <a:r>
              <a:rPr sz="850" b="0" i="0">
                <a:solidFill>
                  <a:srgbClr val="6E6E6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1724924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72492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alibri"/>
              </a:rPr>
              <a:t>04 · THE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7899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222"/>
                </a:solidFill>
                <a:latin typeface="Calibri"/>
              </a:rPr>
              <a:t>The room </a:t>
            </a:r>
            <a:r>
              <a:rPr sz="3300" b="1" i="0">
                <a:solidFill>
                  <a:srgbClr val="E2007A"/>
                </a:solidFill>
                <a:latin typeface="Calibri"/>
              </a:rPr>
              <a:t>· at GreG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Our shared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ECRIative Space</a:t>
            </a:r>
            <a:r>
              <a:rPr sz="1300" b="0" i="0">
                <a:solidFill>
                  <a:srgbClr val="6E6E6E"/>
                </a:solidFill>
                <a:latin typeface="Calibri"/>
              </a:rPr>
              <a:t> at the GreG Founding Center — used by </a:t>
            </a:r>
            <a:r>
              <a:rPr sz="1300" b="1" i="0">
                <a:solidFill>
                  <a:srgbClr val="E2007A"/>
                </a:solidFill>
                <a:latin typeface="Calibri"/>
              </a:rPr>
              <a:t>2 to 7 people every weekday</a:t>
            </a:r>
            <a:r>
              <a:rPr sz="1300" b="0" i="0">
                <a:solidFill>
                  <a:srgbClr val="6E6E6E"/>
                </a:solidFill>
                <a:latin typeface="Calibri"/>
              </a:rPr>
              <a:t> for projects, group work and individual focus.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4892040" cy="1965960"/>
          </a:xfrm>
          <a:prstGeom prst="roundRect">
            <a:avLst>
              <a:gd name="adj" fmla="val 4000"/>
            </a:avLst>
          </a:prstGeom>
          <a:solidFill>
            <a:srgbClr val="FBEAF2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468879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E2007A"/>
                </a:solidFill>
                <a:latin typeface="Calibr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6391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The room proves itself for us as a founding centre — well used almost every day, with an exceptionally warm and productive atmosphere. The partnership it builds between the university and the centre is highly valuable.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23359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2007A"/>
                </a:solidFill>
                <a:latin typeface="Calibri"/>
              </a:rPr>
              <a:t>— GreG Founding 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72000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7200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2–7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57200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people on-site every weekday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F4C6DE"/>
                </a:solidFill>
                <a:latin typeface="Calibri"/>
              </a:rPr>
              <a:t>Mon–Fri, average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132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 spc="160">
                <a:solidFill>
                  <a:srgbClr val="E2007A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760720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70585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Early contact with future founders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035040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98017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A deeper THD ↔ GreG partnership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309359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625449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A smoother path into the founding ecosystem</a:t>
            </a:r>
          </a:p>
        </p:txBody>
      </p:sp>
      <p:pic>
        <p:nvPicPr>
          <p:cNvPr id="21" name="Picture 20" descr="room_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23160"/>
            <a:ext cx="2615184" cy="3657600"/>
          </a:xfrm>
          <a:prstGeom prst="rect">
            <a:avLst/>
          </a:prstGeom>
        </p:spPr>
      </p:pic>
      <p:pic>
        <p:nvPicPr>
          <p:cNvPr id="22" name="Picture 21" descr="room_p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423160"/>
            <a:ext cx="2615184" cy="3657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77240" y="6419088"/>
            <a:ext cx="10637215" cy="10972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150">
                <a:solidFill>
                  <a:srgbClr val="6E6E6E"/>
                </a:solidFill>
                <a:latin typeface="Calibri"/>
              </a:rPr>
              <a:t>THD · ZFE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56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07</a:t>
            </a:r>
            <a:r>
              <a:rPr sz="850" b="0" i="0">
                <a:solidFill>
                  <a:srgbClr val="6E6E6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50985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alibri"/>
              </a:rPr>
              <a:t>05 ·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78992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222"/>
                </a:solidFill>
                <a:latin typeface="Calibri"/>
              </a:rPr>
              <a:t>Activities </a:t>
            </a:r>
            <a:r>
              <a:rPr sz="3300" b="1" i="0">
                <a:solidFill>
                  <a:srgbClr val="E2007A"/>
                </a:solidFill>
                <a:latin typeface="Calibri"/>
              </a:rPr>
              <a:t>· and KPIs</a:t>
            </a:r>
          </a:p>
        </p:txBody>
      </p:sp>
      <p:pic>
        <p:nvPicPr>
          <p:cNvPr id="6" name="Picture 5" descr="work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640080"/>
            <a:ext cx="2542032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874519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The current term on one slide. Individual talks and class visits are rolled up into a single outreach figure.</a:t>
            </a:r>
          </a:p>
        </p:txBody>
      </p:sp>
      <p:pic>
        <p:nvPicPr>
          <p:cNvPr id="8" name="Picture 7" descr="stat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10637215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3246120"/>
            <a:ext cx="2293543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300+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361688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FFFFFF"/>
                </a:solidFill>
                <a:latin typeface="Calibri"/>
              </a:rPr>
              <a:t>STUDENTS REACHED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709160"/>
            <a:ext cx="22935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C6DE"/>
                </a:solidFill>
                <a:latin typeface="Calibri"/>
              </a:rPr>
              <a:t>outreach this term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6543" y="3291839"/>
            <a:ext cx="10972" cy="1737360"/>
          </a:xfrm>
          <a:prstGeom prst="rect">
            <a:avLst/>
          </a:prstGeom>
          <a:solidFill>
            <a:srgbClr val="F49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0863" y="3246120"/>
            <a:ext cx="2293543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9151" y="4361688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FFFFFF"/>
                </a:solidFill>
                <a:latin typeface="Calibri"/>
              </a:rPr>
              <a:t>TALKS &amp; LECTURES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9151" y="4709160"/>
            <a:ext cx="22935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C6DE"/>
                </a:solidFill>
                <a:latin typeface="Calibri"/>
              </a:rPr>
              <a:t>3 more planned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3291839"/>
            <a:ext cx="10972" cy="1737360"/>
          </a:xfrm>
          <a:prstGeom prst="rect">
            <a:avLst/>
          </a:prstGeom>
          <a:solidFill>
            <a:srgbClr val="F49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167" y="3246120"/>
            <a:ext cx="2293543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4361688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FFFFFF"/>
                </a:solidFill>
                <a:latin typeface="Calibri"/>
              </a:rPr>
              <a:t>1:1 COACHING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8455" y="4709160"/>
            <a:ext cx="22935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C6DE"/>
                </a:solidFill>
                <a:latin typeface="Calibri"/>
              </a:rPr>
              <a:t>students, Unit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55151" y="3291839"/>
            <a:ext cx="10972" cy="1737360"/>
          </a:xfrm>
          <a:prstGeom prst="rect">
            <a:avLst/>
          </a:prstGeom>
          <a:solidFill>
            <a:srgbClr val="F49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9471" y="3246120"/>
            <a:ext cx="2293543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7759" y="4361688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FFFFFF"/>
                </a:solidFill>
                <a:latin typeface="Calibri"/>
              </a:rPr>
              <a:t>WORKSHOPS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7759" y="4709160"/>
            <a:ext cx="22935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C6DE"/>
                </a:solidFill>
                <a:latin typeface="Calibri"/>
              </a:rPr>
              <a:t>3 expected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419088"/>
            <a:ext cx="10637215" cy="10972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150">
                <a:solidFill>
                  <a:srgbClr val="6E6E6E"/>
                </a:solidFill>
                <a:latin typeface="Calibri"/>
              </a:rPr>
              <a:t>THD · ZFE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08</a:t>
            </a:r>
            <a:r>
              <a:rPr sz="850" b="0" i="0">
                <a:solidFill>
                  <a:srgbClr val="6E6E6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2262591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2262591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20">
                <a:solidFill>
                  <a:srgbClr val="FFFFFF"/>
                </a:solidFill>
                <a:latin typeface="Calibri"/>
              </a:rPr>
              <a:t>06 · 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7899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222"/>
                </a:solidFill>
                <a:latin typeface="Calibri"/>
              </a:rPr>
              <a:t>What we need </a:t>
            </a:r>
            <a:r>
              <a:rPr sz="3300" b="1" i="0">
                <a:solidFill>
                  <a:srgbClr val="E2007A"/>
                </a:solidFill>
                <a:latin typeface="Calibri"/>
              </a:rPr>
              <a:t>· and where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5230368" cy="3291840"/>
          </a:xfrm>
          <a:prstGeom prst="roundRect">
            <a:avLst>
              <a:gd name="adj" fmla="val 3000"/>
            </a:avLst>
          </a:prstGeom>
          <a:solidFill>
            <a:srgbClr val="FBEAF2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848" y="2578608"/>
            <a:ext cx="2800258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578608"/>
            <a:ext cx="280025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20">
                <a:solidFill>
                  <a:srgbClr val="FFFFFF"/>
                </a:solidFill>
                <a:latin typeface="Calibri"/>
              </a:rPr>
              <a:t>WHAT WE NEED FROM COLLEAGUES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017520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E6E6E"/>
                </a:solidFill>
                <a:latin typeface="Calibri"/>
              </a:rPr>
              <a:t>How the faculty can help us grow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6424" y="3493008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3429000"/>
            <a:ext cx="4270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Refer student founders to office hours and the entrepreneurship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" y="4023360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3959352"/>
            <a:ext cx="4270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Offer short slots in lectures to reach students early.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" y="4553712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4489704"/>
            <a:ext cx="4270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Resource the room at GreG — power strips, desk lamps, a few more chairs and a plant.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6424" y="5084064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5020056"/>
            <a:ext cx="4270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Open doors to industry partners and follow-on funding.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7" y="2286000"/>
            <a:ext cx="5230368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0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0255" y="2578608"/>
            <a:ext cx="2155057" cy="27432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5" y="2578608"/>
            <a:ext cx="215505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20">
                <a:solidFill>
                  <a:srgbClr val="FFFFFF"/>
                </a:solidFill>
                <a:latin typeface="Calibri"/>
              </a:rPr>
              <a:t>WHERE WE GO FROM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3" y="3017520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E6E6E"/>
                </a:solidFill>
                <a:latin typeface="Calibri"/>
              </a:rPr>
              <a:t>The direction from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56831" y="3493008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5" y="3429000"/>
            <a:ext cx="4270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Grow the number of active teams term over term.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6831" y="4023360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575" y="3959352"/>
            <a:ext cx="4270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Move the funnel from estimate to measurement, including GreG room usage.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6831" y="4553712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575" y="4489704"/>
            <a:ext cx="4270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Track people reached, projects built and teams since 2022.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56831" y="5084064"/>
            <a:ext cx="91440" cy="91440"/>
          </a:xfrm>
          <a:prstGeom prst="rect">
            <a:avLst/>
          </a:prstGeom>
          <a:solidFill>
            <a:srgbClr val="E2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5" y="5020056"/>
            <a:ext cx="4270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Turn more early conversations into funded ventures.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419088"/>
            <a:ext cx="10637215" cy="10972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150">
                <a:solidFill>
                  <a:srgbClr val="6E6E6E"/>
                </a:solidFill>
                <a:latin typeface="Calibri"/>
              </a:rPr>
              <a:t>THD · ZFE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56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E2007A"/>
                </a:solidFill>
                <a:latin typeface="Calibri"/>
              </a:rPr>
              <a:t>09</a:t>
            </a:r>
            <a:r>
              <a:rPr sz="850" b="0" i="0">
                <a:solidFill>
                  <a:srgbClr val="6E6E6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_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losing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17320"/>
            <a:ext cx="3566160" cy="4160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777240"/>
            <a:ext cx="3148462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314846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20">
                <a:solidFill>
                  <a:srgbClr val="E2007A"/>
                </a:solidFill>
                <a:latin typeface="Calibri"/>
              </a:rPr>
              <a:t>FACULTY BOARD · 16.06.2026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03120"/>
            <a:ext cx="69494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Let's grow this</a:t>
            </a:r>
          </a:p>
          <a:p>
            <a:pPr algn="l">
              <a:lnSpc>
                <a:spcPct val="98000"/>
              </a:lnSpc>
            </a:pPr>
            <a:r>
              <a:rPr sz="5400" b="1" i="0">
                <a:solidFill>
                  <a:srgbClr val="2A0A1C"/>
                </a:solidFill>
                <a:latin typeface="Calibri"/>
              </a:rPr>
              <a:t>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BEAF2"/>
                </a:solidFill>
                <a:latin typeface="Calibri"/>
              </a:rPr>
              <a:t>What do you need from us, and what can we ask of you?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138928"/>
            <a:ext cx="5029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85232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40">
                <a:solidFill>
                  <a:srgbClr val="F4C6DE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528523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Mohammad Abu-Rezeq, Unit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6928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40">
                <a:solidFill>
                  <a:srgbClr val="F4C6DE"/>
                </a:solidFill>
                <a:latin typeface="Calibri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566928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mohammad.abu-rezeq@th-deg.de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53328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40">
                <a:solidFill>
                  <a:srgbClr val="F4C6DE"/>
                </a:solidFill>
                <a:latin typeface="Calibri"/>
              </a:rPr>
              <a:t>OFFICE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6053328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EC 2.11, Tuesdays 13:00 to 15:00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10</a:t>
            </a:r>
            <a:r>
              <a:rPr sz="850" b="0" i="0">
                <a:solidFill>
                  <a:srgbClr val="F4C6DE"/>
                </a:solidFill>
                <a:latin typeface="Calibri"/>
              </a:rPr>
              <a:t>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