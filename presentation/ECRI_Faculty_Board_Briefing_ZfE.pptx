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822960" cy="64008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 spc="250">
                <a:solidFill>
                  <a:srgbClr val="B6267C"/>
                </a:solidFill>
                <a:latin typeface="Arial"/>
              </a:rPr>
              <a:t>FACULTY BOARD BRIEFING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192024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ECRI Founder</a:t>
            </a:r>
          </a:p>
          <a:p>
            <a:pPr algn="l">
              <a:lnSpc>
                <a:spcPct val="98000"/>
              </a:lnSpc>
            </a:pPr>
            <a:r>
              <a:rPr sz="6000" b="1" i="0">
                <a:solidFill>
                  <a:srgbClr val="B6267C"/>
                </a:solidFill>
                <a:latin typeface="Arial"/>
              </a:rPr>
              <a:t>Coaching.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450" b="0" i="0">
                <a:solidFill>
                  <a:srgbClr val="CFCFD2"/>
                </a:solidFill>
                <a:latin typeface="Arial"/>
              </a:rPr>
              <a:t>Where our founders are today, the formats that support them, the numbers behind the work, and what we need from the faculty to grow.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53212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32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PREPARED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07024"/>
            <a:ext cx="2423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Mohammad Abu-Rezeq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ECRI, Unit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553212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5632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5907024"/>
            <a:ext cx="2423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Prof. Dr. Dominik Boehler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Faculty Board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553212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5632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PR CONTACT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5907024"/>
            <a:ext cx="2423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Herwig Slezak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95360" y="553212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5632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MEETING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5907024"/>
            <a:ext cx="24231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16 June 2026 · 14:00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THD · ZFE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01</a:t>
            </a:r>
            <a:r>
              <a:rPr sz="850" b="0" i="0">
                <a:solidFill>
                  <a:srgbClr val="9A9A9A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880932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88093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Arial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Arial"/>
              </a:rPr>
              <a:t>Agenda</a:t>
            </a:r>
            <a:r>
              <a:rPr sz="3300" b="1" i="0">
                <a:solidFill>
                  <a:srgbClr val="B6267C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685800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Arial"/>
              </a:rPr>
              <a:t>A short briefing on the state of ECRI founder coaching: who we are working with, how we reach them, the numbers, and what we need to grow.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82296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B6267C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788920"/>
            <a:ext cx="47548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Arial"/>
              </a:rPr>
              <a:t>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788920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E6E6E"/>
                </a:solidFill>
                <a:latin typeface="Arial"/>
              </a:rPr>
              <a:t>Active student ventures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2788920"/>
            <a:ext cx="10972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B6267C"/>
                </a:solidFill>
                <a:latin typeface="Arial"/>
              </a:rPr>
              <a:t>S. 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47288"/>
            <a:ext cx="10637215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65576"/>
            <a:ext cx="82296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B6267C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465576"/>
            <a:ext cx="47548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Arial"/>
              </a:rPr>
              <a:t>The founder network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465576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E6E6E"/>
                </a:solidFill>
                <a:latin typeface="Arial"/>
              </a:rPr>
              <a:t>Founders, talent and mentors joining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3465576"/>
            <a:ext cx="10972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B6267C"/>
                </a:solidFill>
                <a:latin typeface="Arial"/>
              </a:rPr>
              <a:t>S. 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123944"/>
            <a:ext cx="10637215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42231"/>
            <a:ext cx="82296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B6267C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142231"/>
            <a:ext cx="47548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Arial"/>
              </a:rPr>
              <a:t>Formats and resources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142231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E6E6E"/>
                </a:solidFill>
                <a:latin typeface="Arial"/>
              </a:rPr>
              <a:t>How we reach and support founders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142231"/>
            <a:ext cx="10972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B6267C"/>
                </a:solidFill>
                <a:latin typeface="Arial"/>
              </a:rPr>
              <a:t>S. 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00600"/>
            <a:ext cx="10637215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18888"/>
            <a:ext cx="82296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B6267C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818888"/>
            <a:ext cx="47548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Arial"/>
              </a:rPr>
              <a:t>Activities and KPIs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818888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E6E6E"/>
                </a:solidFill>
                <a:latin typeface="Arial"/>
              </a:rPr>
              <a:t>The current term in figures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4818888"/>
            <a:ext cx="10972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B6267C"/>
                </a:solidFill>
                <a:latin typeface="Arial"/>
              </a:rPr>
              <a:t>S. 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477256"/>
            <a:ext cx="10637215" cy="9144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495544"/>
            <a:ext cx="82296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B6267C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495544"/>
            <a:ext cx="47548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22222"/>
                </a:solidFill>
                <a:latin typeface="Arial"/>
              </a:rPr>
              <a:t>What we need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495544"/>
            <a:ext cx="365760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E6E6E"/>
                </a:solidFill>
                <a:latin typeface="Arial"/>
              </a:rPr>
              <a:t>Call to action for the faculty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5495544"/>
            <a:ext cx="1097280" cy="67665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B6267C"/>
                </a:solidFill>
                <a:latin typeface="Arial"/>
              </a:rPr>
              <a:t>S. 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Arial"/>
              </a:rPr>
              <a:t>THD · ZFE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02</a:t>
            </a:r>
            <a:r>
              <a:rPr sz="850" b="0" i="0">
                <a:solidFill>
                  <a:srgbClr val="6E6E6E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Arial"/>
              </a:rPr>
              <a:t>01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Arial"/>
              </a:rPr>
              <a:t>The teams </a:t>
            </a:r>
            <a:r>
              <a:rPr sz="3300" b="1" i="0">
                <a:solidFill>
                  <a:srgbClr val="B6267C"/>
                </a:solidFill>
                <a:latin typeface="Arial"/>
              </a:rPr>
              <a:t>·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8408" y="2441448"/>
            <a:ext cx="751453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441448"/>
            <a:ext cx="75145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Arial"/>
              </a:rPr>
              <a:t>ACTIVE</a:t>
            </a:r>
          </a:p>
        </p:txBody>
      </p:sp>
      <p:sp>
        <p:nvSpPr>
          <p:cNvPr id="9" name="Oval 8"/>
          <p:cNvSpPr/>
          <p:nvPr/>
        </p:nvSpPr>
        <p:spPr>
          <a:xfrm>
            <a:off x="3465575" y="2423160"/>
            <a:ext cx="566928" cy="566928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5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Arial"/>
              </a:rPr>
              <a:t>Lucas Barrios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5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B6267C"/>
                </a:solidFill>
                <a:latin typeface="Arial"/>
              </a:rPr>
              <a:t>DIGITAL HEALTH · BRAZIL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5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Arial"/>
              </a:rPr>
              <a:t>A prescription service for the Brazilian market.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99431" y="2441448"/>
            <a:ext cx="751453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1" y="2441448"/>
            <a:ext cx="75145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Arial"/>
              </a:rPr>
              <a:t>ACTIVE</a:t>
            </a:r>
          </a:p>
        </p:txBody>
      </p:sp>
      <p:sp>
        <p:nvSpPr>
          <p:cNvPr id="17" name="Oval 16"/>
          <p:cNvSpPr/>
          <p:nvPr/>
        </p:nvSpPr>
        <p:spPr>
          <a:xfrm>
            <a:off x="7086600" y="2423160"/>
            <a:ext cx="566928" cy="566928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Arial"/>
              </a:rPr>
              <a:t>Ksenia Vinogradova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B6267C"/>
                </a:solidFill>
                <a:latin typeface="Arial"/>
              </a:rPr>
              <a:t>ANIMAL HEALTH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Arial"/>
              </a:rPr>
              <a:t>An app to manage dental hygiene for horses, with a co-founder.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224028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0456" y="2441448"/>
            <a:ext cx="843168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0456" y="2441448"/>
            <a:ext cx="843168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Arial"/>
              </a:rPr>
              <a:t>AT GREG</a:t>
            </a:r>
          </a:p>
        </p:txBody>
      </p:sp>
      <p:sp>
        <p:nvSpPr>
          <p:cNvPr id="25" name="Oval 24"/>
          <p:cNvSpPr/>
          <p:nvPr/>
        </p:nvSpPr>
        <p:spPr>
          <a:xfrm>
            <a:off x="10707624" y="2423160"/>
            <a:ext cx="566928" cy="566928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07624" y="24231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310896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Arial"/>
              </a:rPr>
              <a:t>Ibrahim Lawal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38744" y="342900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B6267C"/>
                </a:solidFill>
                <a:latin typeface="Arial"/>
              </a:rPr>
              <a:t>CULTURE CART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68503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Arial"/>
              </a:rPr>
              <a:t>Founder of Culture Cart, based at the GreG Founding Center.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78408" y="4453128"/>
            <a:ext cx="751453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8408" y="4453128"/>
            <a:ext cx="75145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Arial"/>
              </a:rPr>
              <a:t>ACTIVE</a:t>
            </a:r>
          </a:p>
        </p:txBody>
      </p:sp>
      <p:sp>
        <p:nvSpPr>
          <p:cNvPr id="33" name="Oval 32"/>
          <p:cNvSpPr/>
          <p:nvPr/>
        </p:nvSpPr>
        <p:spPr>
          <a:xfrm>
            <a:off x="3465575" y="4434840"/>
            <a:ext cx="566928" cy="566928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65575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Arial"/>
              </a:rPr>
              <a:t>Samson Olawole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5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B6267C"/>
                </a:solidFill>
                <a:latin typeface="Arial"/>
              </a:rPr>
              <a:t>CCD SUITE · B2B SAAS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Arial"/>
              </a:rPr>
              <a:t>AI business management platform for modern agencies, nine integrated modules from CRM to finance.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98264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99431" y="4453128"/>
            <a:ext cx="751453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99431" y="4453128"/>
            <a:ext cx="751453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Arial"/>
              </a:rPr>
              <a:t>ACTIVE</a:t>
            </a:r>
          </a:p>
        </p:txBody>
      </p:sp>
      <p:sp>
        <p:nvSpPr>
          <p:cNvPr id="41" name="Oval 40"/>
          <p:cNvSpPr/>
          <p:nvPr/>
        </p:nvSpPr>
        <p:spPr>
          <a:xfrm>
            <a:off x="7086600" y="4434840"/>
            <a:ext cx="566928" cy="566928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86600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Arial"/>
              </a:rPr>
              <a:t>Hazel D'couto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B6267C"/>
                </a:solidFill>
                <a:latin typeface="Arial"/>
              </a:rPr>
              <a:t>GESVIA · DIGITAL HEALTH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Arial"/>
              </a:rPr>
              <a:t>A digital health platform that turns complicated hospital forms into simple, engaging experiences for patients.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19288" y="4251960"/>
            <a:ext cx="3456432" cy="1847088"/>
          </a:xfrm>
          <a:prstGeom prst="roundRect">
            <a:avLst>
              <a:gd name="adj" fmla="val 6000"/>
            </a:avLst>
          </a:prstGeom>
          <a:solidFill>
            <a:srgbClr val="F7E6E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220456" y="4453128"/>
            <a:ext cx="1576882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0456" y="4453128"/>
            <a:ext cx="157688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850" b="1" i="0" spc="120">
                <a:solidFill>
                  <a:srgbClr val="FFFFFF"/>
                </a:solidFill>
                <a:latin typeface="Arial"/>
              </a:rPr>
              <a:t>IN THE PIPELINE</a:t>
            </a:r>
          </a:p>
        </p:txBody>
      </p:sp>
      <p:sp>
        <p:nvSpPr>
          <p:cNvPr id="49" name="Oval 48"/>
          <p:cNvSpPr/>
          <p:nvPr/>
        </p:nvSpPr>
        <p:spPr>
          <a:xfrm>
            <a:off x="10707624" y="4434840"/>
            <a:ext cx="566928" cy="566928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07624" y="44348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38744" y="5120640"/>
            <a:ext cx="3044951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222222"/>
                </a:solidFill>
                <a:latin typeface="Arial"/>
              </a:rPr>
              <a:t>More teams to add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38744" y="5440680"/>
            <a:ext cx="304495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1" i="0" spc="80">
                <a:solidFill>
                  <a:srgbClr val="B6267C"/>
                </a:solidFill>
                <a:latin typeface="Arial"/>
              </a:rPr>
              <a:t>TO BE CONFIRMED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38744" y="5696712"/>
            <a:ext cx="3044951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E6E6E"/>
                </a:solidFill>
                <a:latin typeface="Arial"/>
              </a:rPr>
              <a:t>Further active teams to be confirmed before the board meeting.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Arial"/>
              </a:rPr>
              <a:t>THD · ZFE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03</a:t>
            </a:r>
            <a:r>
              <a:rPr sz="850" b="0" i="0">
                <a:solidFill>
                  <a:srgbClr val="6E6E6E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Arial"/>
              </a:rPr>
              <a:t>02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Arial"/>
              </a:rPr>
              <a:t>The founder </a:t>
            </a:r>
            <a:r>
              <a:rPr sz="3300" b="1" i="0">
                <a:solidFill>
                  <a:srgbClr val="B6267C"/>
                </a:solidFill>
                <a:latin typeface="Arial"/>
              </a:rPr>
              <a:t>·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E6E6E"/>
                </a:solidFill>
                <a:latin typeface="Arial"/>
              </a:rPr>
              <a:t>ECRI founders are part of a growing matching network. Students with ideas, talent looking to join a team, and mentors find each other in one place.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63240"/>
            <a:ext cx="345643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3383280"/>
            <a:ext cx="310896" cy="310896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Arial"/>
              </a:rPr>
              <a:t>FOUNDERS WITH IDEAS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17720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6E6E"/>
                </a:solidFill>
                <a:latin typeface="Arial"/>
              </a:rPr>
              <a:t>Students bringing a startup concept and looking for a team.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3063240"/>
            <a:ext cx="345643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81727" y="3383280"/>
            <a:ext cx="310896" cy="310896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3931920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Arial"/>
              </a:rPr>
              <a:t>TALENT LOOKING TO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4617720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6E6E"/>
                </a:solidFill>
                <a:latin typeface="Arial"/>
              </a:rPr>
              <a:t>Skilled students who want to join an existing startup.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3063240"/>
            <a:ext cx="3456432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3383280"/>
            <a:ext cx="310896" cy="310896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3931920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22222"/>
                </a:solidFill>
                <a:latin typeface="Arial"/>
              </a:rPr>
              <a:t>MENTORS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617720"/>
            <a:ext cx="2907791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E6E6E"/>
                </a:solidFill>
                <a:latin typeface="Arial"/>
              </a:rPr>
              <a:t>Experienced advisors supporting the teams as they grow.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Arial"/>
              </a:rPr>
              <a:t>THD · ZFE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04</a:t>
            </a:r>
            <a:r>
              <a:rPr sz="850" b="0" i="0">
                <a:solidFill>
                  <a:srgbClr val="6E6E6E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Arial"/>
              </a:rPr>
              <a:t>03 · FORMATS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Arial"/>
              </a:rPr>
              <a:t>Formats </a:t>
            </a:r>
            <a:r>
              <a:rPr sz="3300" b="1" i="0">
                <a:solidFill>
                  <a:srgbClr val="B6267C"/>
                </a:solidFill>
                <a:latin typeface="Arial"/>
              </a:rPr>
              <a:t>· and resources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3456432" cy="2834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624327"/>
            <a:ext cx="548640" cy="548640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624327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83279"/>
            <a:ext cx="290779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50">
                <a:solidFill>
                  <a:srgbClr val="B6267C"/>
                </a:solidFill>
                <a:latin typeface="Arial"/>
              </a:rPr>
              <a:t>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657600"/>
            <a:ext cx="29077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Arial"/>
              </a:rPr>
              <a:t>Office hours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160520"/>
            <a:ext cx="290779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6E6E"/>
                </a:solidFill>
                <a:latin typeface="Arial"/>
              </a:rPr>
              <a:t>Weekly walk-in slot, EC 2.11, Tuesdays 13:00 to 15:00. The first checkpoint of the founder pipeline.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331720"/>
            <a:ext cx="3456432" cy="2834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81727" y="2624327"/>
            <a:ext cx="548640" cy="548640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624327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3383279"/>
            <a:ext cx="290779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50">
                <a:solidFill>
                  <a:srgbClr val="B6267C"/>
                </a:solidFill>
                <a:latin typeface="Arial"/>
              </a:rPr>
              <a:t>TEACHING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7" y="3657600"/>
            <a:ext cx="29077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Arial"/>
              </a:rPr>
              <a:t>Entrepreneurship class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7" y="4160520"/>
            <a:ext cx="290779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6E6E"/>
                </a:solidFill>
                <a:latin typeface="Arial"/>
              </a:rPr>
              <a:t>Introduces students to startup thinking and channels interested founders into coaching.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331720"/>
            <a:ext cx="3456432" cy="28346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1896" y="2624327"/>
            <a:ext cx="548640" cy="548640"/>
          </a:xfrm>
          <a:prstGeom prst="ellipse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1896" y="2624327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1896" y="3383279"/>
            <a:ext cx="2907791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 spc="150">
                <a:solidFill>
                  <a:srgbClr val="B6267C"/>
                </a:solidFill>
                <a:latin typeface="Arial"/>
              </a:rPr>
              <a:t>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3657600"/>
            <a:ext cx="29077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22222"/>
                </a:solidFill>
                <a:latin typeface="Arial"/>
              </a:rPr>
              <a:t>Room at GreG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4160520"/>
            <a:ext cx="2907791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6E6E6E"/>
                </a:solidFill>
                <a:latin typeface="Arial"/>
              </a:rPr>
              <a:t>Workspace and meeting point at the GreG Founding Center for project teams and small group sessions.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Arial"/>
              </a:rPr>
              <a:t>THD · ZFE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05</a:t>
            </a:r>
            <a:r>
              <a:rPr sz="850" b="0" i="0">
                <a:solidFill>
                  <a:srgbClr val="6E6E6E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56069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Arial"/>
              </a:rPr>
              <a:t>04 · FIGURES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Arial"/>
              </a:rPr>
              <a:t>Activities </a:t>
            </a:r>
            <a:r>
              <a:rPr sz="3300" b="1" i="0">
                <a:solidFill>
                  <a:srgbClr val="B6267C"/>
                </a:solidFill>
                <a:latin typeface="Arial"/>
              </a:rPr>
              <a:t>· and KPIs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8686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E6E6E"/>
                </a:solidFill>
                <a:latin typeface="Arial"/>
              </a:rPr>
              <a:t>The current term on one slide. Individual talks and class visits are rolled up into a single outreach figure.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43200"/>
            <a:ext cx="10637215" cy="2743200"/>
          </a:xfrm>
          <a:prstGeom prst="round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B6267C"/>
                </a:solidFill>
                <a:latin typeface="Arial"/>
              </a:rPr>
              <a:t>300+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4343400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Arial"/>
              </a:rPr>
              <a:t>STUDENTS REACHED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681728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outreach this term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6543" y="3246120"/>
            <a:ext cx="10972" cy="1737360"/>
          </a:xfrm>
          <a:prstGeom prst="rect">
            <a:avLst/>
          </a:prstGeom>
          <a:solidFill>
            <a:srgbClr val="444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5143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B6267C"/>
                </a:solidFill>
                <a:latin typeface="Arial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3431" y="4343400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Arial"/>
              </a:rPr>
              <a:t>TALKS &amp; LECTURES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431" y="4681728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3 more planned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5847" y="3246120"/>
            <a:ext cx="10972" cy="1737360"/>
          </a:xfrm>
          <a:prstGeom prst="rect">
            <a:avLst/>
          </a:prstGeom>
          <a:solidFill>
            <a:srgbClr val="444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4447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B6267C"/>
                </a:solidFill>
                <a:latin typeface="Arial"/>
              </a:rPr>
              <a:t>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2735" y="4343400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Arial"/>
              </a:rPr>
              <a:t>1:1 COACHING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2735" y="4681728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students, Unit 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55151" y="3246120"/>
            <a:ext cx="10972" cy="1737360"/>
          </a:xfrm>
          <a:prstGeom prst="rect">
            <a:avLst/>
          </a:prstGeom>
          <a:solidFill>
            <a:srgbClr val="444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83751" y="3246120"/>
            <a:ext cx="2293543" cy="10058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B6267C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2039" y="4343400"/>
            <a:ext cx="2293543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spc="100">
                <a:solidFill>
                  <a:srgbClr val="FFFFFF"/>
                </a:solidFill>
                <a:latin typeface="Arial"/>
              </a:rPr>
              <a:t>WORKSHOPS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2039" y="4681728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A9A9A"/>
                </a:solidFill>
                <a:latin typeface="Arial"/>
              </a:rPr>
              <a:t>3 expected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Arial"/>
              </a:rPr>
              <a:t>THD · ZFE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06</a:t>
            </a:r>
            <a:r>
              <a:rPr sz="850" b="0" i="0">
                <a:solidFill>
                  <a:srgbClr val="6E6E6E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0080"/>
            <a:ext cx="2353757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35375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 spc="120">
                <a:solidFill>
                  <a:srgbClr val="FFFFFF"/>
                </a:solidFill>
                <a:latin typeface="Arial"/>
              </a:rPr>
              <a:t>05 · CALL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07899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222222"/>
                </a:solidFill>
                <a:latin typeface="Arial"/>
              </a:rPr>
              <a:t>What we need </a:t>
            </a:r>
            <a:r>
              <a:rPr sz="3300" b="1" i="0">
                <a:solidFill>
                  <a:srgbClr val="B6267C"/>
                </a:solidFill>
                <a:latin typeface="Arial"/>
              </a:rPr>
              <a:t>· and where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230368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848" y="2578608"/>
            <a:ext cx="2920227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578608"/>
            <a:ext cx="2920227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Arial"/>
              </a:rPr>
              <a:t>WHAT WE NEED FROM COLLEAGUES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999232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Arial"/>
              </a:rPr>
              <a:t>How the faculty can help us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6424" y="3447288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383280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Refer student founders to office hours and the entrepreneurship class.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" y="3922776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3858768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Offer short slots in lectures to reach students early.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06424" y="4398264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4168" y="4334256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Support and resource the room at GreG.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6424" y="4873752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4809744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Open doors to industry partners and follow-on funding.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7" y="2286000"/>
            <a:ext cx="5230368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B626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20255" y="2578608"/>
            <a:ext cx="2240462" cy="27432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5" y="2578608"/>
            <a:ext cx="224046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spc="120">
                <a:solidFill>
                  <a:srgbClr val="FFFFFF"/>
                </a:solidFill>
                <a:latin typeface="Arial"/>
              </a:rPr>
              <a:t>WHERE WE GO FROM HERE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8543" y="2999232"/>
            <a:ext cx="4590288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E6E6E"/>
                </a:solidFill>
                <a:latin typeface="Arial"/>
              </a:rPr>
              <a:t>The direction from here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56831" y="3447288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94575" y="3383280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Grow the number of active teams term over term.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6831" y="3922776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5" y="3858768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Move the funnel from estimate to measurement, including GreG room booking.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6831" y="4398264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94575" y="4334256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Track people reached, projects built and teams since 2022.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4873752"/>
            <a:ext cx="91440" cy="9144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94575" y="4809744"/>
            <a:ext cx="431596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22222"/>
                </a:solidFill>
                <a:latin typeface="Arial"/>
              </a:rPr>
              <a:t>Turn more early conversations into funded ventures.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6419088"/>
            <a:ext cx="10637215" cy="10972"/>
          </a:xfrm>
          <a:prstGeom prst="rect">
            <a:avLst/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 i="0" spc="150">
                <a:solidFill>
                  <a:srgbClr val="6E6E6E"/>
                </a:solidFill>
                <a:latin typeface="Arial"/>
              </a:rPr>
              <a:t>THD · ZFE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85655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07</a:t>
            </a:r>
            <a:r>
              <a:rPr sz="850" b="0" i="0">
                <a:solidFill>
                  <a:srgbClr val="6E6E6E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1C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713232"/>
            <a:ext cx="822960" cy="64008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8686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 spc="250">
                <a:solidFill>
                  <a:srgbClr val="B6267C"/>
                </a:solidFill>
                <a:latin typeface="Arial"/>
              </a:rPr>
              <a:t>FACULTY BOARD · 16.06.2026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4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FFFFFF"/>
                </a:solidFill>
                <a:latin typeface="Arial"/>
              </a:rPr>
              <a:t>Let's grow this</a:t>
            </a:r>
          </a:p>
          <a:p>
            <a:pPr algn="l">
              <a:lnSpc>
                <a:spcPct val="98000"/>
              </a:lnSpc>
            </a:pPr>
            <a:r>
              <a:rPr sz="5600" b="1" i="0">
                <a:solidFill>
                  <a:srgbClr val="B6267C"/>
                </a:solidFill>
                <a:latin typeface="Arial"/>
              </a:rPr>
              <a:t>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CFCFD2"/>
                </a:solidFill>
                <a:latin typeface="Arial"/>
              </a:rPr>
              <a:t>What do you need from us, and what can we ask of you?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1208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32180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CONTACT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59612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Mohammad Abu-Rezeq, Unit 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521208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532180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EMAIL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559612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mohammad.abu-rezeq@th-deg.de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5212080"/>
            <a:ext cx="411480" cy="32004"/>
          </a:xfrm>
          <a:prstGeom prst="rect">
            <a:avLst/>
          </a:prstGeom>
          <a:solidFill>
            <a:srgbClr val="B626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5321808"/>
            <a:ext cx="3383279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spc="180">
                <a:solidFill>
                  <a:srgbClr val="B6267C"/>
                </a:solidFill>
                <a:latin typeface="Arial"/>
              </a:rPr>
              <a:t>OFFICE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59612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EC 2.11, Tuesdays 13:00 to 15:00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5655" y="649224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B6267C"/>
                </a:solidFill>
                <a:latin typeface="Arial"/>
              </a:rPr>
              <a:t>08</a:t>
            </a:r>
            <a:r>
              <a:rPr sz="850" b="0" i="0">
                <a:solidFill>
                  <a:srgbClr val="9A9A9A"/>
                </a:solidFill>
                <a:latin typeface="Arial"/>
              </a:rPr>
              <a:t>  / 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