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4162348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566928"/>
            <a:ext cx="416234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 spc="120">
                <a:solidFill>
                  <a:srgbClr val="FFFFFF"/>
                </a:solidFill>
                <a:latin typeface="Calibri"/>
              </a:rPr>
              <a:t>FACULTY BOARD BRIEFING · 16.06.2026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932688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6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Entrepreneurship</a:t>
            </a:r>
          </a:p>
          <a:p>
            <a:pPr algn="l">
              <a:lnSpc>
                <a:spcPct val="96000"/>
              </a:lnSpc>
            </a:pPr>
            <a:r>
              <a:rPr sz="4400" b="1" i="0">
                <a:solidFill>
                  <a:srgbClr val="E2007A"/>
                </a:solidFill>
                <a:latin typeface="Calibri"/>
              </a:rPr>
              <a:t>in ECRI.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504688"/>
            <a:ext cx="411480" cy="32004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605272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E2007A"/>
                </a:solidFill>
                <a:latin typeface="Calibri"/>
              </a:rPr>
              <a:t>PREPARED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879592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Mohammad Abu-Rezeq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B9B9BE"/>
                </a:solidFill>
                <a:latin typeface="Calibri"/>
              </a:rPr>
              <a:t>ECRI, Unit 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40" y="5504688"/>
            <a:ext cx="411480" cy="32004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5605272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E2007A"/>
                </a:solidFill>
                <a:latin typeface="Calibri"/>
              </a:rPr>
              <a:t>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5879592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Prof. Dr. Dominik Boehler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B9B9BE"/>
                </a:solidFill>
                <a:latin typeface="Calibri"/>
              </a:rPr>
              <a:t>Faculty Board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5504688"/>
            <a:ext cx="411480" cy="32004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5605272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E2007A"/>
                </a:solidFill>
                <a:latin typeface="Calibri"/>
              </a:rPr>
              <a:t>MEETING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879592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16 June 2026 · 14:00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B9B9BE"/>
                </a:solidFill>
                <a:latin typeface="Calibri"/>
              </a:rPr>
              <a:t>THD · ZFE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85655" y="65105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01</a:t>
            </a:r>
            <a:r>
              <a:rPr sz="850" b="0" i="0">
                <a:solidFill>
                  <a:srgbClr val="B9B9BE"/>
                </a:solidFill>
                <a:latin typeface="Calibri"/>
              </a:rPr>
              <a:t>  / 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864656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864656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Agenda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E6E6E"/>
                </a:solidFill>
                <a:latin typeface="Calibri"/>
              </a:rPr>
              <a:t>A short briefing on the state of ECRI founder coaching: who we are working with, how we reach them, the numbers, and what we need to grow.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82296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2007A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697480"/>
            <a:ext cx="45720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Teams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97480"/>
            <a:ext cx="347472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Active student ventures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2697480"/>
            <a:ext cx="6858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255264"/>
            <a:ext cx="9875520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73552"/>
            <a:ext cx="82296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2007A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273552"/>
            <a:ext cx="45720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The founder network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273552"/>
            <a:ext cx="347472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Founders, talent and mentors joining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3273552"/>
            <a:ext cx="6858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831336"/>
            <a:ext cx="9875520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49624"/>
            <a:ext cx="82296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2007A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849624"/>
            <a:ext cx="45720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Formats and resources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849624"/>
            <a:ext cx="347472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How we reach and support founders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3849624"/>
            <a:ext cx="6858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407408"/>
            <a:ext cx="9875520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25696"/>
            <a:ext cx="82296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2007A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425696"/>
            <a:ext cx="45720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The room at GreG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425696"/>
            <a:ext cx="347472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Our ECRIative Space, in use and in numbers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4425696"/>
            <a:ext cx="6858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983480"/>
            <a:ext cx="9875520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001768"/>
            <a:ext cx="82296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2007A"/>
                </a:solidFill>
                <a:latin typeface="Calibr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5001768"/>
            <a:ext cx="45720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Activities and KPIs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001768"/>
            <a:ext cx="347472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The current term in figures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5001768"/>
            <a:ext cx="6858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559552"/>
            <a:ext cx="9875520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577840"/>
            <a:ext cx="82296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2007A"/>
                </a:solidFill>
                <a:latin typeface="Calibri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1640" y="5577840"/>
            <a:ext cx="45720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What we need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577840"/>
            <a:ext cx="347472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Call to action for the faculty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0" y="5577840"/>
            <a:ext cx="6858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02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01 ·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The teams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4028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78408" y="2441448"/>
            <a:ext cx="741761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441448"/>
            <a:ext cx="74176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ACTIVE</a:t>
            </a:r>
          </a:p>
        </p:txBody>
      </p:sp>
      <p:sp>
        <p:nvSpPr>
          <p:cNvPr id="9" name="Oval 8"/>
          <p:cNvSpPr/>
          <p:nvPr/>
        </p:nvSpPr>
        <p:spPr>
          <a:xfrm>
            <a:off x="3465575" y="242316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5" y="24231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5" y="310896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Lucas Barrios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5" y="342900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DIGITAL HEALTH · BRAZIL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5" y="368503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A prescription service for the Brazilian market.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98264" y="224028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99431" y="2441448"/>
            <a:ext cx="741761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9431" y="2441448"/>
            <a:ext cx="74176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ACTIVE</a:t>
            </a:r>
          </a:p>
        </p:txBody>
      </p:sp>
      <p:sp>
        <p:nvSpPr>
          <p:cNvPr id="17" name="Oval 16"/>
          <p:cNvSpPr/>
          <p:nvPr/>
        </p:nvSpPr>
        <p:spPr>
          <a:xfrm>
            <a:off x="7086600" y="242316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6600" y="24231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0896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Ksenia Vinogradova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42900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ANIMAL HEALTH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68503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An app to manage dental hygiene for horses, with a co-founder.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9288" y="224028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0456" y="2441448"/>
            <a:ext cx="828812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0456" y="2441448"/>
            <a:ext cx="82881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AT GREG</a:t>
            </a:r>
          </a:p>
        </p:txBody>
      </p:sp>
      <p:sp>
        <p:nvSpPr>
          <p:cNvPr id="25" name="Oval 24"/>
          <p:cNvSpPr/>
          <p:nvPr/>
        </p:nvSpPr>
        <p:spPr>
          <a:xfrm>
            <a:off x="10707624" y="242316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07624" y="24231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8744" y="310896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Ibrahim Lawal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8744" y="342900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CULTURE CART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8744" y="368503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Founder of Culture Cart, based at the GreG Founding Center.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25196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78408" y="4453128"/>
            <a:ext cx="741761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" y="4453128"/>
            <a:ext cx="74176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ACTIVE</a:t>
            </a:r>
          </a:p>
        </p:txBody>
      </p:sp>
      <p:sp>
        <p:nvSpPr>
          <p:cNvPr id="33" name="Oval 32"/>
          <p:cNvSpPr/>
          <p:nvPr/>
        </p:nvSpPr>
        <p:spPr>
          <a:xfrm>
            <a:off x="3465575" y="443484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65575" y="44348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5" y="512064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Samson Olawole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5" y="544068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CCD SUITE · B2B SAAS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5" y="569671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AI business management platform for modern agencies, nine integrated modules from CRM to finance.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98264" y="425196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99431" y="4453128"/>
            <a:ext cx="741761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99431" y="4453128"/>
            <a:ext cx="74176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ACTIVE</a:t>
            </a:r>
          </a:p>
        </p:txBody>
      </p:sp>
      <p:sp>
        <p:nvSpPr>
          <p:cNvPr id="41" name="Oval 40"/>
          <p:cNvSpPr/>
          <p:nvPr/>
        </p:nvSpPr>
        <p:spPr>
          <a:xfrm>
            <a:off x="7086600" y="443484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86600" y="44348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17720" y="512064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Hazel D'couto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544068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GESVIA · DIGITAL HEALTH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17720" y="569671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A digital health platform that turns complicated hospital forms into simple, engaging experiences for patients.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19288" y="425196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BEAF2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20456" y="4453128"/>
            <a:ext cx="1525219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20456" y="4453128"/>
            <a:ext cx="152521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IN THE PIPELINE</a:t>
            </a:r>
          </a:p>
        </p:txBody>
      </p:sp>
      <p:sp>
        <p:nvSpPr>
          <p:cNvPr id="49" name="Oval 48"/>
          <p:cNvSpPr/>
          <p:nvPr/>
        </p:nvSpPr>
        <p:spPr>
          <a:xfrm>
            <a:off x="10707624" y="443484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07624" y="44348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38744" y="512064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More teams to add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38744" y="544068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TO BE CONFIRMED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38744" y="569671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Further active teams to be confirmed before the board meeting.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03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02 ·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73152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The founder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network</a:t>
            </a:r>
          </a:p>
        </p:txBody>
      </p:sp>
      <p:pic>
        <p:nvPicPr>
          <p:cNvPr id="6" name="Picture 5" descr="net_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371600"/>
            <a:ext cx="2862072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1965960"/>
            <a:ext cx="722376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6E6E"/>
                </a:solidFill>
                <a:latin typeface="Calibri"/>
              </a:rPr>
              <a:t>ECRI founders are part of a growing matching network. Students with ideas, talent looking to join a team, and mentors find each other in one place.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17520"/>
            <a:ext cx="736092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3319272"/>
            <a:ext cx="310896" cy="310896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3172968"/>
            <a:ext cx="310896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22222"/>
                </a:solidFill>
                <a:latin typeface="Calibri"/>
              </a:rPr>
              <a:t>FOUNDERS WITH IDEAS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17296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Students bringing a startup concept and looking for a team.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069079"/>
            <a:ext cx="736092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370831"/>
            <a:ext cx="310896" cy="310896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4224527"/>
            <a:ext cx="310896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22222"/>
                </a:solidFill>
                <a:latin typeface="Calibri"/>
              </a:rPr>
              <a:t>TALENT LOOKING TO JOIN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224527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Skilled students who want to join an existing startup.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120640"/>
            <a:ext cx="736092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5422392"/>
            <a:ext cx="310896" cy="310896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54480" y="5276088"/>
            <a:ext cx="310896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22222"/>
                </a:solidFill>
                <a:latin typeface="Calibri"/>
              </a:rPr>
              <a:t>MENTORS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27608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Experienced advisors supporting the teams as they grow.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04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03 · FORMATS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Formats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and resources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E6E6E"/>
                </a:solidFill>
                <a:latin typeface="Calibri"/>
              </a:rPr>
              <a:t>Three ways we reach and support founders — from first contact to a place to build.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606040"/>
            <a:ext cx="3456432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971800"/>
            <a:ext cx="548640" cy="548640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718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794760"/>
            <a:ext cx="28163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spc="150">
                <a:solidFill>
                  <a:srgbClr val="E2007A"/>
                </a:solidFill>
                <a:latin typeface="Calibri"/>
              </a:rPr>
              <a:t>ACCESS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87368"/>
            <a:ext cx="281635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222"/>
                </a:solidFill>
                <a:latin typeface="Calibri"/>
              </a:rPr>
              <a:t>Office hours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44568"/>
            <a:ext cx="281635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Weekly walk-in slot, EC 2.11, Tuesdays 13:00 to 15:00. The first checkpoint of the founder pipeline.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7" y="2606040"/>
            <a:ext cx="3456432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27447" y="2971800"/>
            <a:ext cx="548640" cy="548640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7" y="29718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7" y="3794760"/>
            <a:ext cx="28163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spc="150">
                <a:solidFill>
                  <a:srgbClr val="E2007A"/>
                </a:solidFill>
                <a:latin typeface="Calibri"/>
              </a:rPr>
              <a:t>TEACHING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7" y="4087368"/>
            <a:ext cx="281635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222"/>
                </a:solidFill>
                <a:latin typeface="Calibri"/>
              </a:rPr>
              <a:t>Entrepreneurship class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7" y="4544568"/>
            <a:ext cx="281635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Introduces students to startup thinking and channels interested founders into coaching.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37575" y="2606040"/>
            <a:ext cx="3456432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57615" y="2971800"/>
            <a:ext cx="548640" cy="548640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7615" y="29718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7615" y="3794760"/>
            <a:ext cx="28163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spc="150">
                <a:solidFill>
                  <a:srgbClr val="E2007A"/>
                </a:solidFill>
                <a:latin typeface="Calibri"/>
              </a:rPr>
              <a:t>SPACE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7615" y="4087368"/>
            <a:ext cx="281635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222"/>
                </a:solidFill>
                <a:latin typeface="Calibri"/>
              </a:rPr>
              <a:t>Room at GreG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5" y="4544568"/>
            <a:ext cx="281635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Workspace and meeting point at the GreG Founding Center — detailed on the next slide.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05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724924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72492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04 · THE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The room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at GreG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6E6E6E"/>
                </a:solidFill>
                <a:latin typeface="Calibri"/>
              </a:rPr>
              <a:t>Our shared </a:t>
            </a:r>
            <a:r>
              <a:rPr sz="1300" b="1" i="0">
                <a:solidFill>
                  <a:srgbClr val="222222"/>
                </a:solidFill>
                <a:latin typeface="Calibri"/>
              </a:rPr>
              <a:t>ECRIative Space</a:t>
            </a:r>
            <a:r>
              <a:rPr sz="1300" b="0" i="0">
                <a:solidFill>
                  <a:srgbClr val="6E6E6E"/>
                </a:solidFill>
                <a:latin typeface="Calibri"/>
              </a:rPr>
              <a:t> at the GreG Founding Center — used by </a:t>
            </a:r>
            <a:r>
              <a:rPr sz="1300" b="1" i="0">
                <a:solidFill>
                  <a:srgbClr val="E2007A"/>
                </a:solidFill>
                <a:latin typeface="Calibri"/>
              </a:rPr>
              <a:t>2 to 7 people every weekday</a:t>
            </a:r>
            <a:r>
              <a:rPr sz="1300" b="0" i="0">
                <a:solidFill>
                  <a:srgbClr val="6E6E6E"/>
                </a:solidFill>
                <a:latin typeface="Calibri"/>
              </a:rPr>
              <a:t> for projects, group work and individual focus.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423160"/>
            <a:ext cx="4892040" cy="1965960"/>
          </a:xfrm>
          <a:prstGeom prst="roundRect">
            <a:avLst>
              <a:gd name="adj" fmla="val 4000"/>
            </a:avLst>
          </a:prstGeom>
          <a:solidFill>
            <a:srgbClr val="FBEAF2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2468879"/>
            <a:ext cx="109728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E2007A"/>
                </a:solidFill>
                <a:latin typeface="Calibri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36391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The room proves itself for us as a founding centre — well used almost every day, with an exceptionally warm and productive atmosphere. The partnership it builds between the university and the centre is highly valuable.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023359"/>
            <a:ext cx="4343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— GreG Founding Center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572000"/>
            <a:ext cx="4892040" cy="566928"/>
          </a:xfrm>
          <a:prstGeom prst="roundRect">
            <a:avLst>
              <a:gd name="adj" fmla="val 12000"/>
            </a:avLst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7200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2–7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4572000"/>
            <a:ext cx="31089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people on-site every weekday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F4C6DE"/>
                </a:solidFill>
                <a:latin typeface="Calibri"/>
              </a:rPr>
              <a:t>Mon–Fri, average usage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41324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 spc="160">
                <a:solidFill>
                  <a:srgbClr val="E2007A"/>
                </a:solidFill>
                <a:latin typeface="Calibri"/>
              </a:rPr>
              <a:t>WHY IT MATTERS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760720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70585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222"/>
                </a:solidFill>
                <a:latin typeface="Calibri"/>
              </a:rPr>
              <a:t>Early contact with future founders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035040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98017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222"/>
                </a:solidFill>
                <a:latin typeface="Calibri"/>
              </a:rPr>
              <a:t>A deeper THD ↔ GreG partnership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309359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625449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222"/>
                </a:solidFill>
                <a:latin typeface="Calibri"/>
              </a:rPr>
              <a:t>A smoother path into the founding ecosystem</a:t>
            </a:r>
          </a:p>
        </p:txBody>
      </p:sp>
      <p:pic>
        <p:nvPicPr>
          <p:cNvPr id="21" name="Picture 20" descr="room_co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423160"/>
            <a:ext cx="2615184" cy="3657600"/>
          </a:xfrm>
          <a:prstGeom prst="rect">
            <a:avLst/>
          </a:prstGeom>
        </p:spPr>
      </p:pic>
      <p:pic>
        <p:nvPicPr>
          <p:cNvPr id="22" name="Picture 21" descr="room_pa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28" y="2423160"/>
            <a:ext cx="2615184" cy="3657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06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05 · FIGURES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73152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Activities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and KPIs</a:t>
            </a:r>
          </a:p>
        </p:txBody>
      </p:sp>
      <p:pic>
        <p:nvPicPr>
          <p:cNvPr id="6" name="Picture 5" descr="worksh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640080"/>
            <a:ext cx="2542032" cy="18745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1874519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E6E6E"/>
                </a:solidFill>
                <a:latin typeface="Calibri"/>
              </a:rPr>
              <a:t>The current term on one slide. Individual talks and class visits are rolled up into a single outreach figure.</a:t>
            </a:r>
          </a:p>
        </p:txBody>
      </p:sp>
      <p:pic>
        <p:nvPicPr>
          <p:cNvPr id="8" name="Picture 7" descr="stat_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88920"/>
            <a:ext cx="10637215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51560" y="3246120"/>
            <a:ext cx="2293543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libri"/>
              </a:rPr>
              <a:t>300+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4361688"/>
            <a:ext cx="22935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FFFFFF"/>
                </a:solidFill>
                <a:latin typeface="Calibri"/>
              </a:rPr>
              <a:t>STUDENTS REACHED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470916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4C6DE"/>
                </a:solidFill>
                <a:latin typeface="Calibri"/>
              </a:rPr>
              <a:t>outreach this term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3291839"/>
            <a:ext cx="10972" cy="1737360"/>
          </a:xfrm>
          <a:prstGeom prst="rect">
            <a:avLst/>
          </a:prstGeom>
          <a:solidFill>
            <a:srgbClr val="F49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10863" y="3246120"/>
            <a:ext cx="2293543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9151" y="4361688"/>
            <a:ext cx="22935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FFFFFF"/>
                </a:solidFill>
                <a:latin typeface="Calibri"/>
              </a:rPr>
              <a:t>TALKS &amp; LECTURES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9151" y="470916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4C6DE"/>
                </a:solidFill>
                <a:latin typeface="Calibri"/>
              </a:rPr>
              <a:t>3 more planned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5847" y="3291839"/>
            <a:ext cx="10972" cy="1737360"/>
          </a:xfrm>
          <a:prstGeom prst="rect">
            <a:avLst/>
          </a:prstGeom>
          <a:solidFill>
            <a:srgbClr val="F49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0167" y="3246120"/>
            <a:ext cx="2293543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8455" y="4361688"/>
            <a:ext cx="22935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FFFFFF"/>
                </a:solidFill>
                <a:latin typeface="Calibri"/>
              </a:rPr>
              <a:t>1:1 COACHING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8455" y="470916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4C6DE"/>
                </a:solidFill>
                <a:latin typeface="Calibri"/>
              </a:rPr>
              <a:t>students, Unit 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55151" y="3291839"/>
            <a:ext cx="10972" cy="1737360"/>
          </a:xfrm>
          <a:prstGeom prst="rect">
            <a:avLst/>
          </a:prstGeom>
          <a:solidFill>
            <a:srgbClr val="F49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9471" y="3246120"/>
            <a:ext cx="2293543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7759" y="4361688"/>
            <a:ext cx="22935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FFFFFF"/>
                </a:solidFill>
                <a:latin typeface="Calibri"/>
              </a:rPr>
              <a:t>WORKSHOPS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7759" y="470916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4C6DE"/>
                </a:solidFill>
                <a:latin typeface="Calibri"/>
              </a:rPr>
              <a:t>3 expected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07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2262591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226259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06 · CALL TO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What we need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and where next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86000"/>
            <a:ext cx="5230368" cy="3291840"/>
          </a:xfrm>
          <a:prstGeom prst="roundRect">
            <a:avLst>
              <a:gd name="adj" fmla="val 3000"/>
            </a:avLst>
          </a:prstGeom>
          <a:solidFill>
            <a:srgbClr val="FBEAF2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848" y="2578608"/>
            <a:ext cx="2800258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578608"/>
            <a:ext cx="280025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 spc="120">
                <a:solidFill>
                  <a:srgbClr val="FFFFFF"/>
                </a:solidFill>
                <a:latin typeface="Calibri"/>
              </a:rPr>
              <a:t>WHAT WE NEED FROM COLLEAGUES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3017520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6E6E6E"/>
                </a:solidFill>
                <a:latin typeface="Calibri"/>
              </a:rPr>
              <a:t>How the faculty can help us grow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06424" y="3493008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3429000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Refer student founders to office hours and the entrepreneurship class.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" y="4023360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3959352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Offer short slots in lectures to reach students early.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06424" y="4553712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4168" y="4489704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Resource the room at GreG — power strips, desk lamps, a few more chairs and a plant.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06424" y="5084064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5020056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Open doors to industry partners and follow-on funding.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7647" y="2286000"/>
            <a:ext cx="5230368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20255" y="2578608"/>
            <a:ext cx="21550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0255" y="2578608"/>
            <a:ext cx="21550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 spc="120">
                <a:solidFill>
                  <a:srgbClr val="FFFFFF"/>
                </a:solidFill>
                <a:latin typeface="Calibri"/>
              </a:rPr>
              <a:t>WHERE WE GO FROM 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38543" y="3017520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6E6E6E"/>
                </a:solidFill>
                <a:latin typeface="Calibri"/>
              </a:rPr>
              <a:t>The direction from here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56831" y="3493008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94575" y="3429000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Grow the number of active teams term over term.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56831" y="4023360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94575" y="3959352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Move the funnel from estimate to measurement, including GreG room usage.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56831" y="4553712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94575" y="4489704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Track people reached, projects built and teams since 2022.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56831" y="5084064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94575" y="5020056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Turn more early conversations into funded ventures.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08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osing_fie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losing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17320"/>
            <a:ext cx="3566160" cy="41605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777240"/>
            <a:ext cx="3148462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777240"/>
            <a:ext cx="314846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 spc="120">
                <a:solidFill>
                  <a:srgbClr val="E2007A"/>
                </a:solidFill>
                <a:latin typeface="Calibri"/>
              </a:rPr>
              <a:t>FACULTY BOARD · 16.06.2026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103120"/>
            <a:ext cx="694944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Let's grow this</a:t>
            </a:r>
          </a:p>
          <a:p>
            <a:pPr algn="l">
              <a:lnSpc>
                <a:spcPct val="98000"/>
              </a:lnSpc>
            </a:pPr>
            <a:r>
              <a:rPr sz="5400" b="1" i="0">
                <a:solidFill>
                  <a:srgbClr val="2A0A1C"/>
                </a:solidFill>
                <a:latin typeface="Calibri"/>
              </a:rPr>
              <a:t>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114800"/>
            <a:ext cx="67665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BEAF2"/>
                </a:solidFill>
                <a:latin typeface="Calibri"/>
              </a:rPr>
              <a:t>What do you need from us, and what can we ask of you?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138928"/>
            <a:ext cx="50292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285232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40">
                <a:solidFill>
                  <a:srgbClr val="F4C6DE"/>
                </a:solidFill>
                <a:latin typeface="Calibri"/>
              </a:rPr>
              <a:t>CONTACT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5285232"/>
            <a:ext cx="45720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Mohammad Abu-Rezeq, Unit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69280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40">
                <a:solidFill>
                  <a:srgbClr val="F4C6DE"/>
                </a:solidFill>
                <a:latin typeface="Calibri"/>
              </a:rPr>
              <a:t>EMAIL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5669280"/>
            <a:ext cx="45720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mohammad.abu-rezeq@th-deg.de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053328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40">
                <a:solidFill>
                  <a:srgbClr val="F4C6DE"/>
                </a:solidFill>
                <a:latin typeface="Calibri"/>
              </a:rPr>
              <a:t>OFFICE HOURS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6053328"/>
            <a:ext cx="45720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EC 2.11, Tuesdays 13:00 to 15:00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85655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09</a:t>
            </a:r>
            <a:r>
              <a:rPr sz="850" b="0" i="0">
                <a:solidFill>
                  <a:srgbClr val="F4C6DE"/>
                </a:solidFill>
                <a:latin typeface="Calibri"/>
              </a:rPr>
              <a:t>  / 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