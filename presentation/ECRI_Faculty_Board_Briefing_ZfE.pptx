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he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4162348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566928"/>
            <a:ext cx="4162348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 i="0" spc="120">
                <a:solidFill>
                  <a:srgbClr val="FFFFFF"/>
                </a:solidFill>
                <a:latin typeface="Calibri"/>
              </a:rPr>
              <a:t>FACULTY BOARD BRIEFING · 16.06.2026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932688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6000"/>
              </a:lnSpc>
            </a:pPr>
            <a:r>
              <a:rPr sz="4400" b="1" i="0">
                <a:solidFill>
                  <a:srgbClr val="FFFFFF"/>
                </a:solidFill>
                <a:latin typeface="Calibri"/>
              </a:rPr>
              <a:t>Entrepreneurship</a:t>
            </a:r>
          </a:p>
          <a:p>
            <a:pPr algn="l">
              <a:lnSpc>
                <a:spcPct val="96000"/>
              </a:lnSpc>
            </a:pPr>
            <a:r>
              <a:rPr sz="4400" b="1" i="0">
                <a:solidFill>
                  <a:srgbClr val="E2007A"/>
                </a:solidFill>
                <a:latin typeface="Calibri"/>
              </a:rPr>
              <a:t>in ECRI.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5504688"/>
            <a:ext cx="411480" cy="32004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605272"/>
            <a:ext cx="26060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 i="0" spc="180">
                <a:solidFill>
                  <a:srgbClr val="E2007A"/>
                </a:solidFill>
                <a:latin typeface="Calibri"/>
              </a:rPr>
              <a:t>PREPARED BY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879592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Mohammad Abu-Rezeq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B9B9BE"/>
                </a:solidFill>
                <a:latin typeface="Calibri"/>
              </a:rPr>
              <a:t>ECRI, Unit 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20440" y="5504688"/>
            <a:ext cx="411480" cy="32004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5605272"/>
            <a:ext cx="26060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 i="0" spc="180">
                <a:solidFill>
                  <a:srgbClr val="E2007A"/>
                </a:solidFill>
                <a:latin typeface="Calibri"/>
              </a:rPr>
              <a:t>FOR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5879592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Prof. Dr. Dominik Boehler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B9B9BE"/>
                </a:solidFill>
                <a:latin typeface="Calibri"/>
              </a:rPr>
              <a:t>Faculty Board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5504688"/>
            <a:ext cx="411480" cy="32004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5605272"/>
            <a:ext cx="26060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 i="0" spc="180">
                <a:solidFill>
                  <a:srgbClr val="E2007A"/>
                </a:solidFill>
                <a:latin typeface="Calibri"/>
              </a:rPr>
              <a:t>MEETING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5879592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16 June 2026 · 14:00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B9B9BE"/>
                </a:solidFill>
                <a:latin typeface="Calibri"/>
              </a:rPr>
              <a:t>THD · ZFE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85655" y="651052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E2007A"/>
                </a:solidFill>
                <a:latin typeface="Calibri"/>
              </a:rPr>
              <a:t>01</a:t>
            </a:r>
            <a:r>
              <a:rPr sz="850" b="0" i="0">
                <a:solidFill>
                  <a:srgbClr val="B9B9BE"/>
                </a:solidFill>
                <a:latin typeface="Calibri"/>
              </a:rPr>
              <a:t>  / 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640080"/>
            <a:ext cx="864656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864656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050" b="1" i="0" spc="120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078992"/>
            <a:ext cx="64008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3300" b="1" i="0">
                <a:solidFill>
                  <a:srgbClr val="222222"/>
                </a:solidFill>
                <a:latin typeface="Calibri"/>
              </a:rPr>
              <a:t>Agenda</a:t>
            </a:r>
            <a:r>
              <a:rPr sz="3300" b="1" i="0">
                <a:solidFill>
                  <a:srgbClr val="E2007A"/>
                </a:solidFill>
                <a:latin typeface="Calibr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960120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6E6E6E"/>
                </a:solidFill>
                <a:latin typeface="Calibri"/>
              </a:rPr>
              <a:t>A short briefing on the state of ECRI founder coaching: who we are working with, how we reach them, the numbers, and what we need to grow.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97480"/>
            <a:ext cx="82296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E2007A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697480"/>
            <a:ext cx="457200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22222"/>
                </a:solidFill>
                <a:latin typeface="Calibri"/>
              </a:rPr>
              <a:t>Teams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97480"/>
            <a:ext cx="347472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6E6E6E"/>
                </a:solidFill>
                <a:latin typeface="Calibri"/>
              </a:rPr>
              <a:t>Active student ventures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2697480"/>
            <a:ext cx="68580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1050" b="1" i="0">
                <a:solidFill>
                  <a:srgbClr val="E2007A"/>
                </a:solidFill>
                <a:latin typeface="Calibri"/>
              </a:rPr>
              <a:t>S. 03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255264"/>
            <a:ext cx="9875520" cy="9144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273552"/>
            <a:ext cx="82296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E2007A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3273552"/>
            <a:ext cx="457200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22222"/>
                </a:solidFill>
                <a:latin typeface="Calibri"/>
              </a:rPr>
              <a:t>The founder network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273552"/>
            <a:ext cx="347472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6E6E6E"/>
                </a:solidFill>
                <a:latin typeface="Calibri"/>
              </a:rPr>
              <a:t>Founders, talent and mentors joining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0" y="3273552"/>
            <a:ext cx="68580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1050" b="1" i="0">
                <a:solidFill>
                  <a:srgbClr val="E2007A"/>
                </a:solidFill>
                <a:latin typeface="Calibri"/>
              </a:rPr>
              <a:t>S. 04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831336"/>
            <a:ext cx="9875520" cy="9144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849624"/>
            <a:ext cx="82296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E2007A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3849624"/>
            <a:ext cx="457200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22222"/>
                </a:solidFill>
                <a:latin typeface="Calibri"/>
              </a:rPr>
              <a:t>Formats and resources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849624"/>
            <a:ext cx="347472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6E6E6E"/>
                </a:solidFill>
                <a:latin typeface="Calibri"/>
              </a:rPr>
              <a:t>How we reach and support founders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66960" y="3849624"/>
            <a:ext cx="68580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1050" b="1" i="0">
                <a:solidFill>
                  <a:srgbClr val="E2007A"/>
                </a:solidFill>
                <a:latin typeface="Calibri"/>
              </a:rPr>
              <a:t>S. 06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4407408"/>
            <a:ext cx="9875520" cy="9144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425696"/>
            <a:ext cx="82296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E2007A"/>
                </a:solidFill>
                <a:latin typeface="Calibr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91640" y="4425696"/>
            <a:ext cx="457200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22222"/>
                </a:solidFill>
                <a:latin typeface="Calibri"/>
              </a:rPr>
              <a:t>The room at GreG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425696"/>
            <a:ext cx="347472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6E6E6E"/>
                </a:solidFill>
                <a:latin typeface="Calibri"/>
              </a:rPr>
              <a:t>Our ECRIative Space, in use and in numbers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66960" y="4425696"/>
            <a:ext cx="68580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1050" b="1" i="0">
                <a:solidFill>
                  <a:srgbClr val="E2007A"/>
                </a:solidFill>
                <a:latin typeface="Calibri"/>
              </a:rPr>
              <a:t>S. 07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4983480"/>
            <a:ext cx="9875520" cy="9144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001768"/>
            <a:ext cx="82296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E2007A"/>
                </a:solidFill>
                <a:latin typeface="Calibri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91640" y="5001768"/>
            <a:ext cx="457200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22222"/>
                </a:solidFill>
                <a:latin typeface="Calibri"/>
              </a:rPr>
              <a:t>Activities and KPIs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001768"/>
            <a:ext cx="347472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6E6E6E"/>
                </a:solidFill>
                <a:latin typeface="Calibri"/>
              </a:rPr>
              <a:t>The current term in figures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66960" y="5001768"/>
            <a:ext cx="68580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1050" b="1" i="0">
                <a:solidFill>
                  <a:srgbClr val="E2007A"/>
                </a:solidFill>
                <a:latin typeface="Calibri"/>
              </a:rPr>
              <a:t>S. 08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5559552"/>
            <a:ext cx="9875520" cy="9144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577840"/>
            <a:ext cx="82296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E2007A"/>
                </a:solidFill>
                <a:latin typeface="Calibri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91640" y="5577840"/>
            <a:ext cx="457200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22222"/>
                </a:solidFill>
                <a:latin typeface="Calibri"/>
              </a:rPr>
              <a:t>What we need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5577840"/>
            <a:ext cx="347472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6E6E6E"/>
                </a:solidFill>
                <a:latin typeface="Calibri"/>
              </a:rPr>
              <a:t>Call to action for the faculty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66960" y="5577840"/>
            <a:ext cx="68580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1050" b="1" i="0">
                <a:solidFill>
                  <a:srgbClr val="E2007A"/>
                </a:solidFill>
                <a:latin typeface="Calibri"/>
              </a:rPr>
              <a:t>S. 09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" y="6419088"/>
            <a:ext cx="10637215" cy="10972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" y="647395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0" i="0" spc="150">
                <a:solidFill>
                  <a:srgbClr val="6E6E6E"/>
                </a:solidFill>
                <a:latin typeface="Calibri"/>
              </a:rPr>
              <a:t>THD · ZFE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85655" y="647395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E2007A"/>
                </a:solidFill>
                <a:latin typeface="Calibri"/>
              </a:rPr>
              <a:t>02</a:t>
            </a:r>
            <a:r>
              <a:rPr sz="850" b="0" i="0">
                <a:solidFill>
                  <a:srgbClr val="6E6E6E"/>
                </a:solidFill>
                <a:latin typeface="Calibri"/>
              </a:rPr>
              <a:t>  / 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640080"/>
            <a:ext cx="1509857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1509857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050" b="1" i="0" spc="120">
                <a:solidFill>
                  <a:srgbClr val="FFFFFF"/>
                </a:solidFill>
                <a:latin typeface="Calibri"/>
              </a:rPr>
              <a:t>01 ·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078992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3300" b="1" i="0">
                <a:solidFill>
                  <a:srgbClr val="222222"/>
                </a:solidFill>
                <a:latin typeface="Calibri"/>
              </a:rPr>
              <a:t>The teams </a:t>
            </a:r>
            <a:r>
              <a:rPr sz="3300" b="1" i="0">
                <a:solidFill>
                  <a:srgbClr val="E2007A"/>
                </a:solidFill>
                <a:latin typeface="Calibri"/>
              </a:rPr>
              <a:t>· Results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240280"/>
            <a:ext cx="3456432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0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78408" y="2441448"/>
            <a:ext cx="741761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2441448"/>
            <a:ext cx="741761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50" b="1" i="0" spc="120">
                <a:solidFill>
                  <a:srgbClr val="FFFFFF"/>
                </a:solidFill>
                <a:latin typeface="Calibri"/>
              </a:rPr>
              <a:t>ACTIVE</a:t>
            </a:r>
          </a:p>
        </p:txBody>
      </p:sp>
      <p:sp>
        <p:nvSpPr>
          <p:cNvPr id="9" name="Oval 8"/>
          <p:cNvSpPr/>
          <p:nvPr/>
        </p:nvSpPr>
        <p:spPr>
          <a:xfrm>
            <a:off x="3465575" y="2423160"/>
            <a:ext cx="566928" cy="566928"/>
          </a:xfrm>
          <a:prstGeom prst="ellipse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65575" y="242316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5" y="3108960"/>
            <a:ext cx="3044951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222222"/>
                </a:solidFill>
                <a:latin typeface="Calibri"/>
              </a:rPr>
              <a:t>Lucas Barrios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5" y="3429000"/>
            <a:ext cx="304495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1" i="0" spc="80">
                <a:solidFill>
                  <a:srgbClr val="E2007A"/>
                </a:solidFill>
                <a:latin typeface="Calibri"/>
              </a:rPr>
              <a:t>DIGITAL HEALTH · BRAZIL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5" y="3685032"/>
            <a:ext cx="3044951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E6E6E"/>
                </a:solidFill>
                <a:latin typeface="Calibri"/>
              </a:rPr>
              <a:t>A prescription service for the Brazilian market.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98264" y="2240280"/>
            <a:ext cx="3456432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0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99431" y="2441448"/>
            <a:ext cx="741761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99431" y="2441448"/>
            <a:ext cx="741761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50" b="1" i="0" spc="120">
                <a:solidFill>
                  <a:srgbClr val="FFFFFF"/>
                </a:solidFill>
                <a:latin typeface="Calibri"/>
              </a:rPr>
              <a:t>ACTIVE</a:t>
            </a:r>
          </a:p>
        </p:txBody>
      </p:sp>
      <p:sp>
        <p:nvSpPr>
          <p:cNvPr id="17" name="Oval 16"/>
          <p:cNvSpPr/>
          <p:nvPr/>
        </p:nvSpPr>
        <p:spPr>
          <a:xfrm>
            <a:off x="7086600" y="2423160"/>
            <a:ext cx="566928" cy="566928"/>
          </a:xfrm>
          <a:prstGeom prst="ellipse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86600" y="242316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108960"/>
            <a:ext cx="3044951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222222"/>
                </a:solidFill>
                <a:latin typeface="Calibri"/>
              </a:rPr>
              <a:t>Ksenia Vinogradova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3429000"/>
            <a:ext cx="304495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1" i="0" spc="80">
                <a:solidFill>
                  <a:srgbClr val="E2007A"/>
                </a:solidFill>
                <a:latin typeface="Calibri"/>
              </a:rPr>
              <a:t>ANIMAL HEALTH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3685032"/>
            <a:ext cx="3044951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E6E6E"/>
                </a:solidFill>
                <a:latin typeface="Calibri"/>
              </a:rPr>
              <a:t>An app to manage dental hygiene for horses, with a co-founder.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19288" y="2240280"/>
            <a:ext cx="3456432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0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0456" y="2441448"/>
            <a:ext cx="828812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0456" y="2441448"/>
            <a:ext cx="828812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50" b="1" i="0" spc="120">
                <a:solidFill>
                  <a:srgbClr val="FFFFFF"/>
                </a:solidFill>
                <a:latin typeface="Calibri"/>
              </a:rPr>
              <a:t>AT GREG</a:t>
            </a:r>
          </a:p>
        </p:txBody>
      </p:sp>
      <p:sp>
        <p:nvSpPr>
          <p:cNvPr id="25" name="Oval 24"/>
          <p:cNvSpPr/>
          <p:nvPr/>
        </p:nvSpPr>
        <p:spPr>
          <a:xfrm>
            <a:off x="10707624" y="2423160"/>
            <a:ext cx="566928" cy="566928"/>
          </a:xfrm>
          <a:prstGeom prst="ellipse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707624" y="242316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38744" y="3108960"/>
            <a:ext cx="3044951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222222"/>
                </a:solidFill>
                <a:latin typeface="Calibri"/>
              </a:rPr>
              <a:t>Ibrahim Lawal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38744" y="3429000"/>
            <a:ext cx="304495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1" i="0" spc="80">
                <a:solidFill>
                  <a:srgbClr val="E2007A"/>
                </a:solidFill>
                <a:latin typeface="Calibri"/>
              </a:rPr>
              <a:t>CULTURE CART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38744" y="3685032"/>
            <a:ext cx="3044951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E6E6E"/>
                </a:solidFill>
                <a:latin typeface="Calibri"/>
              </a:rPr>
              <a:t>Founder of Culture Cart, based at the GreG Founding Center.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4251960"/>
            <a:ext cx="3456432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0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78408" y="4453128"/>
            <a:ext cx="741761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8408" y="4453128"/>
            <a:ext cx="741761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50" b="1" i="0" spc="120">
                <a:solidFill>
                  <a:srgbClr val="FFFFFF"/>
                </a:solidFill>
                <a:latin typeface="Calibri"/>
              </a:rPr>
              <a:t>ACTIVE</a:t>
            </a:r>
          </a:p>
        </p:txBody>
      </p:sp>
      <p:sp>
        <p:nvSpPr>
          <p:cNvPr id="33" name="Oval 32"/>
          <p:cNvSpPr/>
          <p:nvPr/>
        </p:nvSpPr>
        <p:spPr>
          <a:xfrm>
            <a:off x="3465575" y="4434840"/>
            <a:ext cx="566928" cy="566928"/>
          </a:xfrm>
          <a:prstGeom prst="ellipse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65575" y="443484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6695" y="5120640"/>
            <a:ext cx="3044951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222222"/>
                </a:solidFill>
                <a:latin typeface="Calibri"/>
              </a:rPr>
              <a:t>Samson Olawole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6695" y="5440680"/>
            <a:ext cx="304495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1" i="0" spc="80">
                <a:solidFill>
                  <a:srgbClr val="E2007A"/>
                </a:solidFill>
                <a:latin typeface="Calibri"/>
              </a:rPr>
              <a:t>CCD SUITE · B2B SAAS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6695" y="5696712"/>
            <a:ext cx="3044951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E6E6E"/>
                </a:solidFill>
                <a:latin typeface="Calibri"/>
              </a:rPr>
              <a:t>AI business management platform for modern agencies, nine integrated modules from CRM to finance.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398264" y="4251960"/>
            <a:ext cx="3456432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0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99431" y="4453128"/>
            <a:ext cx="741761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99431" y="4453128"/>
            <a:ext cx="741761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50" b="1" i="0" spc="120">
                <a:solidFill>
                  <a:srgbClr val="FFFFFF"/>
                </a:solidFill>
                <a:latin typeface="Calibri"/>
              </a:rPr>
              <a:t>ACTIVE</a:t>
            </a:r>
          </a:p>
        </p:txBody>
      </p:sp>
      <p:sp>
        <p:nvSpPr>
          <p:cNvPr id="41" name="Oval 40"/>
          <p:cNvSpPr/>
          <p:nvPr/>
        </p:nvSpPr>
        <p:spPr>
          <a:xfrm>
            <a:off x="7086600" y="4434840"/>
            <a:ext cx="566928" cy="566928"/>
          </a:xfrm>
          <a:prstGeom prst="ellipse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086600" y="443484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17720" y="5120640"/>
            <a:ext cx="3044951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222222"/>
                </a:solidFill>
                <a:latin typeface="Calibri"/>
              </a:rPr>
              <a:t>Hazel D'couto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17720" y="5440680"/>
            <a:ext cx="304495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1" i="0" spc="80">
                <a:solidFill>
                  <a:srgbClr val="E2007A"/>
                </a:solidFill>
                <a:latin typeface="Calibri"/>
              </a:rPr>
              <a:t>GESVIA · DIGITAL HEALTH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17720" y="5696712"/>
            <a:ext cx="3044951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E6E6E"/>
                </a:solidFill>
                <a:latin typeface="Calibri"/>
              </a:rPr>
              <a:t>A digital health platform that turns complicated hospital forms into simple, engaging experiences for patients.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019288" y="4251960"/>
            <a:ext cx="3456432" cy="1847088"/>
          </a:xfrm>
          <a:prstGeom prst="roundRect">
            <a:avLst>
              <a:gd name="adj" fmla="val 6000"/>
            </a:avLst>
          </a:prstGeom>
          <a:solidFill>
            <a:srgbClr val="FBEAF2"/>
          </a:solidFill>
          <a:ln w="12700">
            <a:solidFill>
              <a:srgbClr val="E20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220456" y="4453128"/>
            <a:ext cx="1525219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220456" y="4453128"/>
            <a:ext cx="1525219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50" b="1" i="0" spc="120">
                <a:solidFill>
                  <a:srgbClr val="FFFFFF"/>
                </a:solidFill>
                <a:latin typeface="Calibri"/>
              </a:rPr>
              <a:t>IN THE PIPELINE</a:t>
            </a:r>
          </a:p>
        </p:txBody>
      </p:sp>
      <p:sp>
        <p:nvSpPr>
          <p:cNvPr id="49" name="Oval 48"/>
          <p:cNvSpPr/>
          <p:nvPr/>
        </p:nvSpPr>
        <p:spPr>
          <a:xfrm>
            <a:off x="10707624" y="4434840"/>
            <a:ext cx="566928" cy="566928"/>
          </a:xfrm>
          <a:prstGeom prst="ellipse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07624" y="443484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+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38744" y="5120640"/>
            <a:ext cx="3044951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222222"/>
                </a:solidFill>
                <a:latin typeface="Calibri"/>
              </a:rPr>
              <a:t>More teams to add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38744" y="5440680"/>
            <a:ext cx="304495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1" i="0" spc="80">
                <a:solidFill>
                  <a:srgbClr val="E2007A"/>
                </a:solidFill>
                <a:latin typeface="Calibri"/>
              </a:rPr>
              <a:t>TO BE CONFIRMED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38744" y="5696712"/>
            <a:ext cx="3044951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E6E6E"/>
                </a:solidFill>
                <a:latin typeface="Calibri"/>
              </a:rPr>
              <a:t>Further active teams to be confirmed before the board meeting.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77240" y="6419088"/>
            <a:ext cx="10637215" cy="10972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77240" y="647395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0" i="0" spc="150">
                <a:solidFill>
                  <a:srgbClr val="6E6E6E"/>
                </a:solidFill>
                <a:latin typeface="Calibri"/>
              </a:rPr>
              <a:t>THD · ZFE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585655" y="647395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E2007A"/>
                </a:solidFill>
                <a:latin typeface="Calibri"/>
              </a:rPr>
              <a:t>03</a:t>
            </a:r>
            <a:r>
              <a:rPr sz="850" b="0" i="0">
                <a:solidFill>
                  <a:srgbClr val="6E6E6E"/>
                </a:solidFill>
                <a:latin typeface="Calibri"/>
              </a:rPr>
              <a:t>  / 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640080"/>
            <a:ext cx="1509857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1509857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050" b="1" i="0" spc="120">
                <a:solidFill>
                  <a:srgbClr val="FFFFFF"/>
                </a:solidFill>
                <a:latin typeface="Calibri"/>
              </a:rPr>
              <a:t>02 · NETWORK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078992"/>
            <a:ext cx="73152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3300" b="1" i="0">
                <a:solidFill>
                  <a:srgbClr val="222222"/>
                </a:solidFill>
                <a:latin typeface="Calibri"/>
              </a:rPr>
              <a:t>The founder </a:t>
            </a:r>
            <a:r>
              <a:rPr sz="3300" b="1" i="0">
                <a:solidFill>
                  <a:srgbClr val="E2007A"/>
                </a:solidFill>
                <a:latin typeface="Calibri"/>
              </a:rPr>
              <a:t>· network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6E6E6E"/>
                </a:solidFill>
                <a:latin typeface="Calibri"/>
              </a:rPr>
              <a:t>ECRI founders are part of a growing matching network. Students with ideas, talent looking to join a team, and mentors find each other in one place.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971800"/>
            <a:ext cx="10634472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0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97280" y="3273552"/>
            <a:ext cx="310896" cy="310896"/>
          </a:xfrm>
          <a:prstGeom prst="ellipse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3127248"/>
            <a:ext cx="4206240" cy="6400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22222"/>
                </a:solidFill>
                <a:latin typeface="Calibri"/>
              </a:rPr>
              <a:t>FOUNDERS WITH IDEAS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3127248"/>
            <a:ext cx="5120640" cy="6400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E6E6E"/>
                </a:solidFill>
                <a:latin typeface="Calibri"/>
              </a:rPr>
              <a:t>Students bringing a startup concept and looking for a team.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050791"/>
            <a:ext cx="10634472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0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97280" y="4352544"/>
            <a:ext cx="310896" cy="310896"/>
          </a:xfrm>
          <a:prstGeom prst="ellipse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45920" y="4206240"/>
            <a:ext cx="4206240" cy="6400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22222"/>
                </a:solidFill>
                <a:latin typeface="Calibri"/>
              </a:rPr>
              <a:t>TALENT LOOKING TO JOIN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4206240"/>
            <a:ext cx="5120640" cy="6400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E6E6E"/>
                </a:solidFill>
                <a:latin typeface="Calibri"/>
              </a:rPr>
              <a:t>Skilled students who want to join an existing startup.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129783"/>
            <a:ext cx="10634472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0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97280" y="5431536"/>
            <a:ext cx="310896" cy="310896"/>
          </a:xfrm>
          <a:prstGeom prst="ellipse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45920" y="5285231"/>
            <a:ext cx="4206240" cy="6400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22222"/>
                </a:solidFill>
                <a:latin typeface="Calibri"/>
              </a:rPr>
              <a:t>MENTORS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5285231"/>
            <a:ext cx="5120640" cy="6400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E6E6E"/>
                </a:solidFill>
                <a:latin typeface="Calibri"/>
              </a:rPr>
              <a:t>Experienced advisors supporting the teams as they grow.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6419088"/>
            <a:ext cx="10637215" cy="10972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647395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0" i="0" spc="150">
                <a:solidFill>
                  <a:srgbClr val="6E6E6E"/>
                </a:solidFill>
                <a:latin typeface="Calibri"/>
              </a:rPr>
              <a:t>THD · ZFE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85655" y="647395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E2007A"/>
                </a:solidFill>
                <a:latin typeface="Calibri"/>
              </a:rPr>
              <a:t>04</a:t>
            </a:r>
            <a:r>
              <a:rPr sz="850" b="0" i="0">
                <a:solidFill>
                  <a:srgbClr val="6E6E6E"/>
                </a:solidFill>
                <a:latin typeface="Calibri"/>
              </a:rPr>
              <a:t>  / 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640080"/>
            <a:ext cx="1509857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1509857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050" b="1" i="0" spc="120">
                <a:solidFill>
                  <a:srgbClr val="FFFFFF"/>
                </a:solidFill>
                <a:latin typeface="Calibri"/>
              </a:rPr>
              <a:t>02 · NETWORK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078992"/>
            <a:ext cx="6400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3300" b="1" i="0">
                <a:solidFill>
                  <a:srgbClr val="222222"/>
                </a:solidFill>
                <a:latin typeface="Calibri"/>
              </a:rPr>
              <a:t>The network </a:t>
            </a:r>
            <a:r>
              <a:rPr sz="3300" b="1" i="0">
                <a:solidFill>
                  <a:srgbClr val="E2007A"/>
                </a:solidFill>
                <a:latin typeface="Calibri"/>
              </a:rPr>
              <a:t>· mapped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4846320" cy="11887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6E6E6E"/>
                </a:solidFill>
                <a:latin typeface="Calibri"/>
              </a:rPr>
              <a:t>Every pin is a person in our matching platform — founders, talent and mentors across the region, finding each other in one place.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3419856"/>
            <a:ext cx="292608" cy="292608"/>
          </a:xfrm>
          <a:prstGeom prst="ellipse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98448" y="338328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22222"/>
                </a:solidFill>
                <a:latin typeface="Calibri"/>
              </a:rPr>
              <a:t>FOUNDERS WITH IDEAS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3694176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6E6E6E"/>
                </a:solidFill>
                <a:latin typeface="Calibri"/>
              </a:rPr>
              <a:t>bringing a concept, looking for a team</a:t>
            </a:r>
          </a:p>
        </p:txBody>
      </p:sp>
      <p:sp>
        <p:nvSpPr>
          <p:cNvPr id="10" name="Oval 9"/>
          <p:cNvSpPr/>
          <p:nvPr/>
        </p:nvSpPr>
        <p:spPr>
          <a:xfrm>
            <a:off x="822960" y="4261104"/>
            <a:ext cx="292608" cy="292608"/>
          </a:xfrm>
          <a:prstGeom prst="ellipse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98448" y="422452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22222"/>
                </a:solidFill>
                <a:latin typeface="Calibri"/>
              </a:rPr>
              <a:t>TALENT LOOKING TO JOIN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4535424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6E6E6E"/>
                </a:solidFill>
                <a:latin typeface="Calibri"/>
              </a:rPr>
              <a:t>skilled students joining a startup</a:t>
            </a:r>
          </a:p>
        </p:txBody>
      </p:sp>
      <p:sp>
        <p:nvSpPr>
          <p:cNvPr id="13" name="Oval 12"/>
          <p:cNvSpPr/>
          <p:nvPr/>
        </p:nvSpPr>
        <p:spPr>
          <a:xfrm>
            <a:off x="822960" y="5102352"/>
            <a:ext cx="292608" cy="292608"/>
          </a:xfrm>
          <a:prstGeom prst="ellipse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5065776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22222"/>
                </a:solidFill>
                <a:latin typeface="Calibri"/>
              </a:rPr>
              <a:t>MENTORS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5376672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6E6E6E"/>
                </a:solidFill>
                <a:latin typeface="Calibri"/>
              </a:rPr>
              <a:t>experienced advisors supporting teams</a:t>
            </a:r>
          </a:p>
        </p:txBody>
      </p:sp>
      <p:pic>
        <p:nvPicPr>
          <p:cNvPr id="16" name="Picture 15" descr="map_b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188720"/>
            <a:ext cx="5294376" cy="512064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777240" y="6419088"/>
            <a:ext cx="10637215" cy="10972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647395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0" i="0" spc="150">
                <a:solidFill>
                  <a:srgbClr val="6E6E6E"/>
                </a:solidFill>
                <a:latin typeface="Calibri"/>
              </a:rPr>
              <a:t>THD · ZFE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85655" y="647395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E2007A"/>
                </a:solidFill>
                <a:latin typeface="Calibri"/>
              </a:rPr>
              <a:t>05</a:t>
            </a:r>
            <a:r>
              <a:rPr sz="850" b="0" i="0">
                <a:solidFill>
                  <a:srgbClr val="6E6E6E"/>
                </a:solidFill>
                <a:latin typeface="Calibri"/>
              </a:rPr>
              <a:t>  / 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640080"/>
            <a:ext cx="1509857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1509857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050" b="1" i="0" spc="120">
                <a:solidFill>
                  <a:srgbClr val="FFFFFF"/>
                </a:solidFill>
                <a:latin typeface="Calibri"/>
              </a:rPr>
              <a:t>03 · FORMATS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078992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3300" b="1" i="0">
                <a:solidFill>
                  <a:srgbClr val="222222"/>
                </a:solidFill>
                <a:latin typeface="Calibri"/>
              </a:rPr>
              <a:t>Formats </a:t>
            </a:r>
            <a:r>
              <a:rPr sz="3300" b="1" i="0">
                <a:solidFill>
                  <a:srgbClr val="E2007A"/>
                </a:solidFill>
                <a:latin typeface="Calibri"/>
              </a:rPr>
              <a:t>· and resources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E6E6E"/>
                </a:solidFill>
                <a:latin typeface="Calibri"/>
              </a:rPr>
              <a:t>Three ways we reach and support founders — from first contact to a place to build.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606040"/>
            <a:ext cx="3456432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0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97280" y="2971800"/>
            <a:ext cx="548640" cy="548640"/>
          </a:xfrm>
          <a:prstGeom prst="ellipse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7180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794760"/>
            <a:ext cx="281635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 spc="150">
                <a:solidFill>
                  <a:srgbClr val="E2007A"/>
                </a:solidFill>
                <a:latin typeface="Calibri"/>
              </a:rPr>
              <a:t>ACCESS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087368"/>
            <a:ext cx="2816352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222222"/>
                </a:solidFill>
                <a:latin typeface="Calibri"/>
              </a:rPr>
              <a:t>Office hours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544568"/>
            <a:ext cx="2816352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E6E6E"/>
                </a:solidFill>
                <a:latin typeface="Calibri"/>
              </a:rPr>
              <a:t>Weekly walk-in slot, EC 2.11, Tuesdays 13:00 to 15:00. The first checkpoint of the founder pipeline.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07407" y="2606040"/>
            <a:ext cx="3456432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0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727447" y="2971800"/>
            <a:ext cx="548640" cy="548640"/>
          </a:xfrm>
          <a:prstGeom prst="ellipse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27447" y="297180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7447" y="3794760"/>
            <a:ext cx="281635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 spc="150">
                <a:solidFill>
                  <a:srgbClr val="E2007A"/>
                </a:solidFill>
                <a:latin typeface="Calibri"/>
              </a:rPr>
              <a:t>TEACHING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27447" y="4087368"/>
            <a:ext cx="2816352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222222"/>
                </a:solidFill>
                <a:latin typeface="Calibri"/>
              </a:rPr>
              <a:t>Entrepreneurship class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27447" y="4544568"/>
            <a:ext cx="2816352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E6E6E"/>
                </a:solidFill>
                <a:latin typeface="Calibri"/>
              </a:rPr>
              <a:t>Introduces students to startup thinking and channels interested founders into coaching.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37575" y="2606040"/>
            <a:ext cx="3456432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0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57615" y="2971800"/>
            <a:ext cx="548640" cy="548640"/>
          </a:xfrm>
          <a:prstGeom prst="ellipse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57615" y="297180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7615" y="3794760"/>
            <a:ext cx="281635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 spc="150">
                <a:solidFill>
                  <a:srgbClr val="E2007A"/>
                </a:solidFill>
                <a:latin typeface="Calibri"/>
              </a:rPr>
              <a:t>SPACE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7615" y="4087368"/>
            <a:ext cx="2816352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222222"/>
                </a:solidFill>
                <a:latin typeface="Calibri"/>
              </a:rPr>
              <a:t>Room at GreG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57615" y="4544568"/>
            <a:ext cx="2816352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E6E6E"/>
                </a:solidFill>
                <a:latin typeface="Calibri"/>
              </a:rPr>
              <a:t>Workspace and meeting point at the GreG Founding Center — detailed on the next slide.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6419088"/>
            <a:ext cx="10637215" cy="10972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647395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0" i="0" spc="150">
                <a:solidFill>
                  <a:srgbClr val="6E6E6E"/>
                </a:solidFill>
                <a:latin typeface="Calibri"/>
              </a:rPr>
              <a:t>THD · ZFE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85655" y="647395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E2007A"/>
                </a:solidFill>
                <a:latin typeface="Calibri"/>
              </a:rPr>
              <a:t>06</a:t>
            </a:r>
            <a:r>
              <a:rPr sz="850" b="0" i="0">
                <a:solidFill>
                  <a:srgbClr val="6E6E6E"/>
                </a:solidFill>
                <a:latin typeface="Calibri"/>
              </a:rPr>
              <a:t>  / 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640080"/>
            <a:ext cx="1724924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1724924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050" b="1" i="0" spc="120">
                <a:solidFill>
                  <a:srgbClr val="FFFFFF"/>
                </a:solidFill>
                <a:latin typeface="Calibri"/>
              </a:rPr>
              <a:t>04 · THE 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078992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3300" b="1" i="0">
                <a:solidFill>
                  <a:srgbClr val="222222"/>
                </a:solidFill>
                <a:latin typeface="Calibri"/>
              </a:rPr>
              <a:t>The room </a:t>
            </a:r>
            <a:r>
              <a:rPr sz="3300" b="1" i="0">
                <a:solidFill>
                  <a:srgbClr val="E2007A"/>
                </a:solidFill>
                <a:latin typeface="Calibri"/>
              </a:rPr>
              <a:t>· at GreG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6E6E6E"/>
                </a:solidFill>
                <a:latin typeface="Calibri"/>
              </a:rPr>
              <a:t>Our shared </a:t>
            </a:r>
            <a:r>
              <a:rPr sz="1300" b="1" i="0">
                <a:solidFill>
                  <a:srgbClr val="222222"/>
                </a:solidFill>
                <a:latin typeface="Calibri"/>
              </a:rPr>
              <a:t>ECRIative Space</a:t>
            </a:r>
            <a:r>
              <a:rPr sz="1300" b="0" i="0">
                <a:solidFill>
                  <a:srgbClr val="6E6E6E"/>
                </a:solidFill>
                <a:latin typeface="Calibri"/>
              </a:rPr>
              <a:t> at the GreG Founding Center — used by </a:t>
            </a:r>
            <a:r>
              <a:rPr sz="1300" b="1" i="0">
                <a:solidFill>
                  <a:srgbClr val="E2007A"/>
                </a:solidFill>
                <a:latin typeface="Calibri"/>
              </a:rPr>
              <a:t>2 to 7 people every weekday</a:t>
            </a:r>
            <a:r>
              <a:rPr sz="1300" b="0" i="0">
                <a:solidFill>
                  <a:srgbClr val="6E6E6E"/>
                </a:solidFill>
                <a:latin typeface="Calibri"/>
              </a:rPr>
              <a:t> for projects, group work and individual focus.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423160"/>
            <a:ext cx="4892040" cy="1965960"/>
          </a:xfrm>
          <a:prstGeom prst="roundRect">
            <a:avLst>
              <a:gd name="adj" fmla="val 4000"/>
            </a:avLst>
          </a:prstGeom>
          <a:solidFill>
            <a:srgbClr val="FBEAF2"/>
          </a:solidFill>
          <a:ln w="12700">
            <a:solidFill>
              <a:srgbClr val="E20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" y="2468879"/>
            <a:ext cx="109728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000" b="1" i="0">
                <a:solidFill>
                  <a:srgbClr val="E2007A"/>
                </a:solidFill>
                <a:latin typeface="Calibri"/>
              </a:rPr>
              <a:t>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36391"/>
            <a:ext cx="434340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22222"/>
                </a:solidFill>
                <a:latin typeface="Calibri"/>
              </a:rPr>
              <a:t>The room proves itself for us as a founding centre — well used almost every day, with an exceptionally warm and productive atmosphere. The partnership it builds between the university and the centre is highly valuable.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023359"/>
            <a:ext cx="4343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E2007A"/>
                </a:solidFill>
                <a:latin typeface="Calibri"/>
              </a:rPr>
              <a:t>— GreG Founding Center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572000"/>
            <a:ext cx="4892040" cy="566928"/>
          </a:xfrm>
          <a:prstGeom prst="roundRect">
            <a:avLst>
              <a:gd name="adj" fmla="val 12000"/>
            </a:avLst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72000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2–7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4572000"/>
            <a:ext cx="31089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Calibri"/>
              </a:rPr>
              <a:t>people on-site every weekday</a:t>
            </a:r>
          </a:p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F4C6DE"/>
                </a:solidFill>
                <a:latin typeface="Calibri"/>
              </a:rPr>
              <a:t>Mon–Fri, average usage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41324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1" i="0" spc="160">
                <a:solidFill>
                  <a:srgbClr val="E2007A"/>
                </a:solidFill>
                <a:latin typeface="Calibri"/>
              </a:rPr>
              <a:t>WHY IT MATTERS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760720"/>
            <a:ext cx="91440" cy="9144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5705856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22222"/>
                </a:solidFill>
                <a:latin typeface="Calibri"/>
              </a:rPr>
              <a:t>Early contact with future founders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035040"/>
            <a:ext cx="91440" cy="9144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5980176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22222"/>
                </a:solidFill>
                <a:latin typeface="Calibri"/>
              </a:rPr>
              <a:t>A deeper THD ↔ GreG partnership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6309359"/>
            <a:ext cx="91440" cy="9144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6254496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22222"/>
                </a:solidFill>
                <a:latin typeface="Calibri"/>
              </a:rPr>
              <a:t>A smoother path into the founding ecosystem</a:t>
            </a:r>
          </a:p>
        </p:txBody>
      </p:sp>
      <p:pic>
        <p:nvPicPr>
          <p:cNvPr id="21" name="Picture 20" descr="room_co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423160"/>
            <a:ext cx="2615184" cy="3657600"/>
          </a:xfrm>
          <a:prstGeom prst="rect">
            <a:avLst/>
          </a:prstGeom>
        </p:spPr>
      </p:pic>
      <p:pic>
        <p:nvPicPr>
          <p:cNvPr id="22" name="Picture 21" descr="room_pa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6528" y="2423160"/>
            <a:ext cx="2615184" cy="365760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777240" y="6419088"/>
            <a:ext cx="10637215" cy="10972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647395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0" i="0" spc="150">
                <a:solidFill>
                  <a:srgbClr val="6E6E6E"/>
                </a:solidFill>
                <a:latin typeface="Calibri"/>
              </a:rPr>
              <a:t>THD · ZFE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85655" y="647395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E2007A"/>
                </a:solidFill>
                <a:latin typeface="Calibri"/>
              </a:rPr>
              <a:t>07</a:t>
            </a:r>
            <a:r>
              <a:rPr sz="850" b="0" i="0">
                <a:solidFill>
                  <a:srgbClr val="6E6E6E"/>
                </a:solidFill>
                <a:latin typeface="Calibri"/>
              </a:rPr>
              <a:t>  / 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640080"/>
            <a:ext cx="1509857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1509857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050" b="1" i="0" spc="120">
                <a:solidFill>
                  <a:srgbClr val="FFFFFF"/>
                </a:solidFill>
                <a:latin typeface="Calibri"/>
              </a:rPr>
              <a:t>05 · FIGURES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078992"/>
            <a:ext cx="73152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3300" b="1" i="0">
                <a:solidFill>
                  <a:srgbClr val="222222"/>
                </a:solidFill>
                <a:latin typeface="Calibri"/>
              </a:rPr>
              <a:t>Activities </a:t>
            </a:r>
            <a:r>
              <a:rPr sz="3300" b="1" i="0">
                <a:solidFill>
                  <a:srgbClr val="E2007A"/>
                </a:solidFill>
                <a:latin typeface="Calibri"/>
              </a:rPr>
              <a:t>· and KPIs</a:t>
            </a:r>
          </a:p>
        </p:txBody>
      </p:sp>
      <p:pic>
        <p:nvPicPr>
          <p:cNvPr id="6" name="Picture 5" descr="worksh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0" y="640080"/>
            <a:ext cx="2542032" cy="187451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1874519"/>
            <a:ext cx="7498079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6E6E6E"/>
                </a:solidFill>
                <a:latin typeface="Calibri"/>
              </a:rPr>
              <a:t>The current term on one slide. Individual talks and class visits are rolled up into a single outreach figure.</a:t>
            </a:r>
          </a:p>
        </p:txBody>
      </p:sp>
      <p:pic>
        <p:nvPicPr>
          <p:cNvPr id="8" name="Picture 7" descr="stat_b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788920"/>
            <a:ext cx="10637215" cy="2743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51560" y="3246120"/>
            <a:ext cx="2293543" cy="10058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FFFFFF"/>
                </a:solidFill>
                <a:latin typeface="Calibri"/>
              </a:rPr>
              <a:t>300+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4361688"/>
            <a:ext cx="22935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spc="100">
                <a:solidFill>
                  <a:srgbClr val="FFFFFF"/>
                </a:solidFill>
                <a:latin typeface="Calibri"/>
              </a:rPr>
              <a:t>STUDENTS REACHED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4709160"/>
            <a:ext cx="2293543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4C6DE"/>
                </a:solidFill>
                <a:latin typeface="Calibri"/>
              </a:rPr>
              <a:t>outreach this term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36543" y="3291839"/>
            <a:ext cx="10972" cy="1737360"/>
          </a:xfrm>
          <a:prstGeom prst="rect">
            <a:avLst/>
          </a:prstGeom>
          <a:solidFill>
            <a:srgbClr val="F49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10863" y="3246120"/>
            <a:ext cx="2293543" cy="10058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9151" y="4361688"/>
            <a:ext cx="22935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spc="100">
                <a:solidFill>
                  <a:srgbClr val="FFFFFF"/>
                </a:solidFill>
                <a:latin typeface="Calibri"/>
              </a:rPr>
              <a:t>TALKS &amp; LECTURES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29151" y="4709160"/>
            <a:ext cx="2293543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4C6DE"/>
                </a:solidFill>
                <a:latin typeface="Calibri"/>
              </a:rPr>
              <a:t>3 more planned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5847" y="3291839"/>
            <a:ext cx="10972" cy="1737360"/>
          </a:xfrm>
          <a:prstGeom prst="rect">
            <a:avLst/>
          </a:prstGeom>
          <a:solidFill>
            <a:srgbClr val="F49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70167" y="3246120"/>
            <a:ext cx="2293543" cy="10058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FFFFFF"/>
                </a:solidFill>
                <a:latin typeface="Calibri"/>
              </a:rPr>
              <a:t>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88455" y="4361688"/>
            <a:ext cx="22935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spc="100">
                <a:solidFill>
                  <a:srgbClr val="FFFFFF"/>
                </a:solidFill>
                <a:latin typeface="Calibri"/>
              </a:rPr>
              <a:t>1:1 COACHING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8455" y="4709160"/>
            <a:ext cx="2293543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4C6DE"/>
                </a:solidFill>
                <a:latin typeface="Calibri"/>
              </a:rPr>
              <a:t>students, Unit 01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55151" y="3291839"/>
            <a:ext cx="10972" cy="1737360"/>
          </a:xfrm>
          <a:prstGeom prst="rect">
            <a:avLst/>
          </a:prstGeom>
          <a:solidFill>
            <a:srgbClr val="F49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29471" y="3246120"/>
            <a:ext cx="2293543" cy="10058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47759" y="4361688"/>
            <a:ext cx="22935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spc="100">
                <a:solidFill>
                  <a:srgbClr val="FFFFFF"/>
                </a:solidFill>
                <a:latin typeface="Calibri"/>
              </a:rPr>
              <a:t>WORKSHOPS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47759" y="4709160"/>
            <a:ext cx="2293543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4C6DE"/>
                </a:solidFill>
                <a:latin typeface="Calibri"/>
              </a:rPr>
              <a:t>3 expected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6419088"/>
            <a:ext cx="10637215" cy="10972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647395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0" i="0" spc="150">
                <a:solidFill>
                  <a:srgbClr val="6E6E6E"/>
                </a:solidFill>
                <a:latin typeface="Calibri"/>
              </a:rPr>
              <a:t>THD · ZFE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85655" y="647395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E2007A"/>
                </a:solidFill>
                <a:latin typeface="Calibri"/>
              </a:rPr>
              <a:t>08</a:t>
            </a:r>
            <a:r>
              <a:rPr sz="850" b="0" i="0">
                <a:solidFill>
                  <a:srgbClr val="6E6E6E"/>
                </a:solidFill>
                <a:latin typeface="Calibri"/>
              </a:rPr>
              <a:t>  / 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640080"/>
            <a:ext cx="2262591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2262591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050" b="1" i="0" spc="120">
                <a:solidFill>
                  <a:srgbClr val="FFFFFF"/>
                </a:solidFill>
                <a:latin typeface="Calibri"/>
              </a:rPr>
              <a:t>06 · CALL TO 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078992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3300" b="1" i="0">
                <a:solidFill>
                  <a:srgbClr val="222222"/>
                </a:solidFill>
                <a:latin typeface="Calibri"/>
              </a:rPr>
              <a:t>What we need </a:t>
            </a:r>
            <a:r>
              <a:rPr sz="3300" b="1" i="0">
                <a:solidFill>
                  <a:srgbClr val="E2007A"/>
                </a:solidFill>
                <a:latin typeface="Calibri"/>
              </a:rPr>
              <a:t>· and where next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286000"/>
            <a:ext cx="5230368" cy="3291840"/>
          </a:xfrm>
          <a:prstGeom prst="roundRect">
            <a:avLst>
              <a:gd name="adj" fmla="val 3000"/>
            </a:avLst>
          </a:prstGeom>
          <a:solidFill>
            <a:srgbClr val="FBEAF2"/>
          </a:solidFill>
          <a:ln w="12700">
            <a:solidFill>
              <a:srgbClr val="E20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848" y="2578608"/>
            <a:ext cx="2800258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2578608"/>
            <a:ext cx="2800258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 spc="120">
                <a:solidFill>
                  <a:srgbClr val="FFFFFF"/>
                </a:solidFill>
                <a:latin typeface="Calibri"/>
              </a:rPr>
              <a:t>WHAT WE NEED FROM COLLEAGUES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" y="3017520"/>
            <a:ext cx="459028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 i="1">
                <a:solidFill>
                  <a:srgbClr val="6E6E6E"/>
                </a:solidFill>
                <a:latin typeface="Calibri"/>
              </a:rPr>
              <a:t>How the faculty can help us grow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06424" y="3493008"/>
            <a:ext cx="91440" cy="9144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44168" y="3429000"/>
            <a:ext cx="4270248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22222"/>
                </a:solidFill>
                <a:latin typeface="Calibri"/>
              </a:rPr>
              <a:t>Refer student founders to office hours and the entrepreneurship class.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6424" y="4023360"/>
            <a:ext cx="91440" cy="9144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44168" y="3959352"/>
            <a:ext cx="4270248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22222"/>
                </a:solidFill>
                <a:latin typeface="Calibri"/>
              </a:rPr>
              <a:t>Offer short slots in lectures to reach students early.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06424" y="4553712"/>
            <a:ext cx="91440" cy="9144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44168" y="4489704"/>
            <a:ext cx="4270248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22222"/>
                </a:solidFill>
                <a:latin typeface="Calibri"/>
              </a:rPr>
              <a:t>Resource the room at GreG — power strips, desk lamps, a few more chairs and a plant.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06424" y="5084064"/>
            <a:ext cx="91440" cy="9144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44168" y="5020056"/>
            <a:ext cx="4270248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22222"/>
                </a:solidFill>
                <a:latin typeface="Calibri"/>
              </a:rPr>
              <a:t>Open doors to industry partners and follow-on funding.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27647" y="2286000"/>
            <a:ext cx="5230368" cy="3291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0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20255" y="2578608"/>
            <a:ext cx="2155057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0255" y="2578608"/>
            <a:ext cx="2155057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 spc="120">
                <a:solidFill>
                  <a:srgbClr val="FFFFFF"/>
                </a:solidFill>
                <a:latin typeface="Calibri"/>
              </a:rPr>
              <a:t>WHERE WE GO FROM HERE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38543" y="3017520"/>
            <a:ext cx="459028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 i="1">
                <a:solidFill>
                  <a:srgbClr val="6E6E6E"/>
                </a:solidFill>
                <a:latin typeface="Calibri"/>
              </a:rPr>
              <a:t>The direction from here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56831" y="3493008"/>
            <a:ext cx="91440" cy="9144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94575" y="3429000"/>
            <a:ext cx="4270248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22222"/>
                </a:solidFill>
                <a:latin typeface="Calibri"/>
              </a:rPr>
              <a:t>Grow the number of active teams term over term.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56831" y="4023360"/>
            <a:ext cx="91440" cy="9144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94575" y="3959352"/>
            <a:ext cx="4270248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22222"/>
                </a:solidFill>
                <a:latin typeface="Calibri"/>
              </a:rPr>
              <a:t>Move the funnel from estimate to measurement, including GreG room usage.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56831" y="4553712"/>
            <a:ext cx="91440" cy="9144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94575" y="4489704"/>
            <a:ext cx="4270248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22222"/>
                </a:solidFill>
                <a:latin typeface="Calibri"/>
              </a:rPr>
              <a:t>Track people reached, projects built and teams since 2022.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56831" y="5084064"/>
            <a:ext cx="91440" cy="9144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94575" y="5020056"/>
            <a:ext cx="4270248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22222"/>
                </a:solidFill>
                <a:latin typeface="Calibri"/>
              </a:rPr>
              <a:t>Turn more early conversations into funded ventures.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6419088"/>
            <a:ext cx="10637215" cy="10972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647395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0" i="0" spc="150">
                <a:solidFill>
                  <a:srgbClr val="6E6E6E"/>
                </a:solidFill>
                <a:latin typeface="Calibri"/>
              </a:rPr>
              <a:t>THD · ZFE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85655" y="647395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E2007A"/>
                </a:solidFill>
                <a:latin typeface="Calibri"/>
              </a:rPr>
              <a:t>09</a:t>
            </a:r>
            <a:r>
              <a:rPr sz="850" b="0" i="0">
                <a:solidFill>
                  <a:srgbClr val="6E6E6E"/>
                </a:solidFill>
                <a:latin typeface="Calibri"/>
              </a:rPr>
              <a:t>  / 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osing_fiel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closing_pho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1417320"/>
            <a:ext cx="3566160" cy="416052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777240"/>
            <a:ext cx="3148462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777240"/>
            <a:ext cx="3148462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 i="0" spc="120">
                <a:solidFill>
                  <a:srgbClr val="E2007A"/>
                </a:solidFill>
                <a:latin typeface="Calibri"/>
              </a:rPr>
              <a:t>FACULTY BOARD · 16.06.2026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2103120"/>
            <a:ext cx="6949440" cy="1828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5400" b="1" i="0">
                <a:solidFill>
                  <a:srgbClr val="FFFFFF"/>
                </a:solidFill>
                <a:latin typeface="Calibri"/>
              </a:rPr>
              <a:t>Let's grow this</a:t>
            </a:r>
          </a:p>
          <a:p>
            <a:pPr algn="l">
              <a:lnSpc>
                <a:spcPct val="98000"/>
              </a:lnSpc>
            </a:pPr>
            <a:r>
              <a:rPr sz="5400" b="1" i="0">
                <a:solidFill>
                  <a:srgbClr val="2A0A1C"/>
                </a:solidFill>
                <a:latin typeface="Calibri"/>
              </a:rPr>
              <a:t>together.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114800"/>
            <a:ext cx="676656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BEAF2"/>
                </a:solidFill>
                <a:latin typeface="Calibri"/>
              </a:rPr>
              <a:t>What do you need from us, and what can we ask of you?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5138928"/>
            <a:ext cx="502920" cy="365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285232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 i="0" spc="140">
                <a:solidFill>
                  <a:srgbClr val="F4C6DE"/>
                </a:solidFill>
                <a:latin typeface="Calibri"/>
              </a:rPr>
              <a:t>CONTACT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31720" y="5285232"/>
            <a:ext cx="457200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Mohammad Abu-Rezeq, Unit 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669280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 i="0" spc="140">
                <a:solidFill>
                  <a:srgbClr val="F4C6DE"/>
                </a:solidFill>
                <a:latin typeface="Calibri"/>
              </a:rPr>
              <a:t>EMAIL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5669280"/>
            <a:ext cx="457200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mohammad.abu-rezeq@th-deg.de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053328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 i="0" spc="140">
                <a:solidFill>
                  <a:srgbClr val="F4C6DE"/>
                </a:solidFill>
                <a:latin typeface="Calibri"/>
              </a:rPr>
              <a:t>OFFICE HOURS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1720" y="6053328"/>
            <a:ext cx="457200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EC 2.11, Tuesdays 13:00 to 15:00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85655" y="64922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10</a:t>
            </a:r>
            <a:r>
              <a:rPr sz="850" b="0" i="0">
                <a:solidFill>
                  <a:srgbClr val="F4C6DE"/>
                </a:solidFill>
                <a:latin typeface="Calibri"/>
              </a:rPr>
              <a:t>  / 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